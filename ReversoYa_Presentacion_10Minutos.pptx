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tardes. ¿A cuántos de ustedes les ha pasado que compran algo por internet o Instagram, pagan por PSE o Nequi, el producto nunca llega o llega roto, y la tienda les responde: ‘no devolvemos plata, solo damos un bono’? Para resolver ese abuso cotidiano en Colombia creamos ReversoYa. Nuestro símbolo une un escudo azul naval de certeza jurídica con una flecha circular verde esmeralda que representa el retorno del dinero a la cuenta del ciudadano. Y nuestro eslogan resume toda nuestra tesis jurídica: ‘Tu plata de vuelta por ley, sin rogarle al comercio’.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Veamos la dimensión del problema en Colombia. Según la Cámara Colombiana de Comercio Electrónico, en el país se realizan más de 370 millones de transacciones digitales al año. Sin embargo, cuando una compra de $200.000 o $680.000 pesos falla, el consumidor choca contra dos muros: cuatro excusas ilegales del comercio y el alto costo de contratar un abogado particular.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Colombia tiene una legislación muy potente anclada en los artículos 78 y 229 de la Constitución, la Ley 1480 de 2011 y el Decreto 587 de 2016: si notificas dentro de los 5 días hábiles siguientes al incumplimiento, tu propio banco está obligado por ley a reversar el 100% del dinero en máximo 15 días hábiles.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Nuestro público principal son los compradores digitales y viajeros en Colombia entre los 18 y 55 años que usan PSE, Nequi, Daviplata o tarjetas, además de pasarelas y comercios en nuestro canal B2B.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Inspirados en Symplifica, diseñamos en Stitch un flujo de 4 pantallas sin jerga legal. En la Pantalla 1 el usuario calcula su plazo de 5 días hábiles y en la Pantalla 2 escanea el chat de WhatsApp y sella sus pruebas con SHA-256.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Pantalla 3 ReversoYa genera los 3 oficios con todos los requisitos formales del Decreto 587 para que el banco no pueda rechazarlos, y en la Pantalla 4 activa el reloj de 15 días hábiles.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módulo aeronáutico bajo el RAC 3 de la Aerocivil, si sobrevenden un tiquete de $540.000 pesos, ReversoYa calcula automáticamente $702.000 pesos exigibles en efectivo.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Investigamos qué existe en Colombia: ni SIC Facilita ni las apps de peticiones simples accionan la obligación del banco emisor. ReversoYa no le ruega al vendedor: activa la orden bancaria del Decreto 587.</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Nuestro modelo combina un nivel Freemium gratuito con un micro-pago ético de $19.900 pesos por radicación triple certificada y un SaaS B2B mensual para comercios y pasarelas.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conclusión: con ReversoYa demostramos que cuando el artículo 78 de la Constitución y la Ley 1480 se traducen en cuatro pantallas claras, el abuso comercial deja de ser rentable. Muchas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1 (00:00-00:50): Nombre, Logo y Eslogan — ReversoYa</a:t>
            </a:r>
          </a:p>
        </p:txBody>
      </p:sp>
      <p:sp>
        <p:nvSpPr>
          <p:cNvPr id="3" name="Content Placeholder 2"/>
          <p:cNvSpPr>
            <a:spLocks noGrp="1"/>
          </p:cNvSpPr>
          <p:nvPr>
            <p:ph idx="1"/>
          </p:nvPr>
        </p:nvSpPr>
        <p:spPr/>
        <p:txBody>
          <a:bodyPr/>
          <a:lstStyle/>
          <a:p>
            <a:pPr>
              <a:defRPr sz="2000"/>
            </a:pPr>
            <a:r>
              <a:t>Marca: ReversoYa</a:t>
            </a:r>
          </a:p>
          <a:p>
            <a:pPr>
              <a:defRPr sz="2000"/>
            </a:pPr>
            <a:r>
              <a:t>Eslogan: “Tu plata de vuelta por ley, sin rogarle al comercio.”</a:t>
            </a:r>
          </a:p>
          <a:p>
            <a:pPr>
              <a:defRPr sz="2000"/>
            </a:pPr>
            <a:r>
              <a:t>Logo: Escudo naval (#0B132B) con flecha circular de restitución en verde esmeralda (#00C48C) e insignia LEY 1480.</a:t>
            </a:r>
          </a:p>
          <a:p>
            <a:pPr>
              <a:defRPr sz="2000"/>
            </a:pPr>
            <a:r>
              <a:t>Mecanismo central: Ejecuta la Reversión de Pago obligatoria ante bancos y pasarelas (PSE, Nequi, Tarjetas) en máximo 15 días hábiles.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2 (00:50-02:00): El Problema en Colombia — ¿A quién afecta?</a:t>
            </a:r>
          </a:p>
        </p:txBody>
      </p:sp>
      <p:sp>
        <p:nvSpPr>
          <p:cNvPr id="3" name="Content Placeholder 2"/>
          <p:cNvSpPr>
            <a:spLocks noGrp="1"/>
          </p:cNvSpPr>
          <p:nvPr>
            <p:ph idx="1"/>
          </p:nvPr>
        </p:nvSpPr>
        <p:spPr/>
        <p:txBody>
          <a:bodyPr/>
          <a:lstStyle/>
          <a:p>
            <a:pPr>
              <a:defRPr sz="2000"/>
            </a:pPr>
            <a:r>
              <a:t>370+ millones de pagos digitales al año en Colombia por más de $62 billones COP (CCCE).</a:t>
            </a:r>
          </a:p>
          <a:p>
            <a:pPr>
              <a:defRPr sz="2000"/>
            </a:pPr>
            <a:r>
              <a:t>Muro 1 (Las 4 excusas ilegales): 1) 'Solo damos bono', 2) 'Reclámele a la transportadora', 3) 'En promoción no hay garantía', 4) 'Espere 60 días'.</a:t>
            </a:r>
          </a:p>
          <a:p>
            <a:pPr>
              <a:defRPr sz="2000"/>
            </a:pPr>
            <a:r>
              <a:t>Muro 2 (Asimetría económica): Un abogado cuesta entre $400.000 y $800.000 COP; nadie contrata un abogado para recuperar una compra de $250.000 COP.</a:t>
            </a:r>
          </a:p>
          <a:p>
            <a:pPr>
              <a:defRPr sz="2000"/>
            </a:pPr>
            <a:r>
              <a:t>Muro 3 (Ventana oculta): El comprador solo tiene 5 días hábiles para activar formalmente a su banco bajo el Decreto 587 de 2016.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3 (02:00-03:15): Problema Jurídico — DD. HH., Constitución y Ley</a:t>
            </a:r>
          </a:p>
        </p:txBody>
      </p:sp>
      <p:sp>
        <p:nvSpPr>
          <p:cNvPr id="3" name="Content Placeholder 2"/>
          <p:cNvSpPr>
            <a:spLocks noGrp="1"/>
          </p:cNvSpPr>
          <p:nvPr>
            <p:ph idx="1"/>
          </p:nvPr>
        </p:nvSpPr>
        <p:spPr/>
        <p:txBody>
          <a:bodyPr/>
          <a:lstStyle/>
          <a:p>
            <a:pPr>
              <a:defRPr sz="2000"/>
            </a:pPr>
            <a:r>
              <a:t>Constitución Política y DD. HH.: Art. 78 C.P. (protección al consumidor), Art. 229 C.P. (acceso a la justicia) y Directrices ONU (Res. A/RES/70/186).</a:t>
            </a:r>
          </a:p>
          <a:p>
            <a:pPr>
              <a:defRPr sz="2000"/>
            </a:pPr>
            <a:r>
              <a:t>Ley 1480 de 2011: Art. 51 (Reversión del pago), Art. 47 (Retracto en 5 días hábiles en dinero, prohibidos los bonos), Arts. 7, 8 y 43 (Garantía en promociones).</a:t>
            </a:r>
          </a:p>
          <a:p>
            <a:pPr>
              <a:defRPr sz="2000"/>
            </a:pPr>
            <a:r>
              <a:t>Decreto 587 de 2016 (Cap. 51 Decreto 1074/2015): 5 días hábiles para notificar (Art. 2.2.2.51.4) -&gt; 15 días hábiles para que el banco devuelva el 100% (Art. 2.2.2.51.5).</a:t>
            </a:r>
          </a:p>
          <a:p>
            <a:pPr>
              <a:defRPr sz="2000"/>
            </a:pPr>
            <a:r>
              <a:t>RAC 3 Aeronáutica Civil: Reembolso del 100% del tiquete + 30% de compensación mínima obligatoria por sobreventa o cancelación.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4 (03:15-04:15): Público Objetivo — ¿A quién está dirigido?</a:t>
            </a:r>
          </a:p>
        </p:txBody>
      </p:sp>
      <p:sp>
        <p:nvSpPr>
          <p:cNvPr id="3" name="Content Placeholder 2"/>
          <p:cNvSpPr>
            <a:spLocks noGrp="1"/>
          </p:cNvSpPr>
          <p:nvPr>
            <p:ph idx="1"/>
          </p:nvPr>
        </p:nvSpPr>
        <p:spPr/>
        <p:txBody>
          <a:bodyPr/>
          <a:lstStyle/>
          <a:p>
            <a:pPr>
              <a:defRPr sz="2000"/>
            </a:pPr>
            <a:r>
              <a:t>Público B2C (Ciudadanos): Colombianos de 18 a 55 años (estratos 2 al 5) que compran online o en redes con PSE, Nequi, Daviplata o tarjetas ($80.000 a $4.000.000 COP).</a:t>
            </a:r>
          </a:p>
          <a:p>
            <a:pPr>
              <a:defRPr sz="2000"/>
            </a:pPr>
            <a:r>
              <a:t>Público B2B (Aliados): Pasarelas de pago (Wompi, Bold, Mercado Pago) y comercios formales que buscan conciliar antes de recibir multas SIC de hasta 2.000 SMLMV (Art. 61 Ley 1480).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5 (04:15-05:30): Solución y Flujo — Pantallas 1 y 2 (Diseño Stitch)</a:t>
            </a:r>
          </a:p>
        </p:txBody>
      </p:sp>
      <p:sp>
        <p:nvSpPr>
          <p:cNvPr id="3" name="Content Placeholder 2"/>
          <p:cNvSpPr>
            <a:spLocks noGrp="1"/>
          </p:cNvSpPr>
          <p:nvPr>
            <p:ph idx="1"/>
          </p:nvPr>
        </p:nvSpPr>
        <p:spPr/>
        <p:txBody>
          <a:bodyPr/>
          <a:lstStyle/>
          <a:p>
            <a:pPr>
              <a:defRPr sz="2000"/>
            </a:pPr>
            <a:r>
              <a:t>Inspiración Symplifica: Convertimos un trámite procesal en una calculadora guiada de 4 pantallas.</a:t>
            </a:r>
          </a:p>
          <a:p>
            <a:pPr>
              <a:defRPr sz="2000"/>
            </a:pPr>
            <a:r>
              <a:t>Pantalla 1 (Escáner de Compra, Vuelo y Plazo de 5 Días): Calcula el monto exigible y verifica si aplica orden directa al banco (&lt;=5 días) o demanda SIC (&gt;5 días).</a:t>
            </a:r>
          </a:p>
          <a:p>
            <a:pPr>
              <a:defRPr sz="2000"/>
            </a:pPr>
            <a:r>
              <a:t>Pantalla 2 (Detector de Excusas Ilegales + Bóveda SHA-256): Escanea el chat de WhatsApp, anula excusas ilegales (Art. 43 y 47) y certifica capturas bajo la Ley 527 de 1999.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6 (05:30-06:45): Solución y Flujo — Pantallas 3 y 4 (Orden al Banco)</a:t>
            </a:r>
          </a:p>
        </p:txBody>
      </p:sp>
      <p:sp>
        <p:nvSpPr>
          <p:cNvPr id="3" name="Content Placeholder 2"/>
          <p:cNvSpPr>
            <a:spLocks noGrp="1"/>
          </p:cNvSpPr>
          <p:nvPr>
            <p:ph idx="1"/>
          </p:nvPr>
        </p:nvSpPr>
        <p:spPr/>
        <p:txBody>
          <a:bodyPr/>
          <a:lstStyle/>
          <a:p>
            <a:pPr>
              <a:defRPr sz="2000"/>
            </a:pPr>
            <a:r>
              <a:t>Pantalla 3 (Semáforo Legal y 3 Oficios Vinculantes): Genera 1) Orden al Banco/PSE con los requisitos taxativos del Art. 2.2.2.51.3 Dec. 1074/2015, 2) Aviso al Comercio y 3) Demanda SIC.</a:t>
            </a:r>
          </a:p>
          <a:p>
            <a:pPr>
              <a:defRPr sz="2000"/>
            </a:pPr>
            <a:r>
              <a:t>Pantalla 4 (Radicación Simultánea y Reloj de 15 Días Hábiles): Monitorea el término perentorio del banco y escala a Superfinanciera si no abona al día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7 (06:45-07:45): Caso Especial — Vuelos y Compensación 30% (RAC 3)</a:t>
            </a:r>
          </a:p>
        </p:txBody>
      </p:sp>
      <p:sp>
        <p:nvSpPr>
          <p:cNvPr id="3" name="Content Placeholder 2"/>
          <p:cNvSpPr>
            <a:spLocks noGrp="1"/>
          </p:cNvSpPr>
          <p:nvPr>
            <p:ph idx="1"/>
          </p:nvPr>
        </p:nvSpPr>
        <p:spPr/>
        <p:txBody>
          <a:bodyPr/>
          <a:lstStyle/>
          <a:p>
            <a:pPr>
              <a:defRPr sz="2000"/>
            </a:pPr>
            <a:r>
              <a:t>Ejemplo real: Vuelo Bogotá–Cartagena de $540.000 COP sobrevendido o cancelado por la aerolínea.</a:t>
            </a:r>
          </a:p>
          <a:p>
            <a:pPr>
              <a:defRPr sz="2000"/>
            </a:pPr>
            <a:r>
              <a:t>Reembolso del tiquete vía banco: $540.000 COP (100%).</a:t>
            </a:r>
          </a:p>
          <a:p>
            <a:pPr>
              <a:defRPr sz="2000"/>
            </a:pPr>
            <a:r>
              <a:t>Compensación obligatoria RAC 3 (30%): +$162.000 COP.</a:t>
            </a:r>
          </a:p>
          <a:p>
            <a:pPr>
              <a:defRPr sz="2000"/>
            </a:pPr>
            <a:r>
              <a:t>Total exigible en dinero (no en millas ni vouchers): $702.000 COP.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8 (07:45-08:45): Propuesta de Valor y Benchmark en Colombia</a:t>
            </a:r>
          </a:p>
        </p:txBody>
      </p:sp>
      <p:sp>
        <p:nvSpPr>
          <p:cNvPr id="3" name="Content Placeholder 2"/>
          <p:cNvSpPr>
            <a:spLocks noGrp="1"/>
          </p:cNvSpPr>
          <p:nvPr>
            <p:ph idx="1"/>
          </p:nvPr>
        </p:nvSpPr>
        <p:spPr/>
        <p:txBody>
          <a:bodyPr/>
          <a:lstStyle/>
          <a:p>
            <a:pPr>
              <a:defRPr sz="2000"/>
            </a:pPr>
            <a:r>
              <a:t>SIC Facilita: Solo aplica a comercios inscritos voluntariamente; no vincula al banco ni cubre tiendas de Instagram.</a:t>
            </a:r>
          </a:p>
          <a:p>
            <a:pPr>
              <a:defRPr sz="2000"/>
            </a:pPr>
            <a:r>
              <a:t>Formularios bancarios: Tratan todo como fraude de tarjeta y ocultan la reversión de PSE.</a:t>
            </a:r>
          </a:p>
          <a:p>
            <a:pPr>
              <a:defRPr sz="2000"/>
            </a:pPr>
            <a:r>
              <a:t>Apps de Derechos de Petición: Solo le envían una carta al vendedor incumplido, quien la ignora.</a:t>
            </a:r>
          </a:p>
          <a:p>
            <a:pPr>
              <a:defRPr sz="2000"/>
            </a:pPr>
            <a:r>
              <a:t>Diferencial ReversoYa: Acciona directamente el débito forzoso ante el banco/pasarela en 15 días hábiles.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9 (08:45-09:30): Modelo de Negocio — Ético y Escalable</a:t>
            </a:r>
          </a:p>
        </p:txBody>
      </p:sp>
      <p:sp>
        <p:nvSpPr>
          <p:cNvPr id="3" name="Content Placeholder 2"/>
          <p:cNvSpPr>
            <a:spLocks noGrp="1"/>
          </p:cNvSpPr>
          <p:nvPr>
            <p:ph idx="1"/>
          </p:nvPr>
        </p:nvSpPr>
        <p:spPr/>
        <p:txBody>
          <a:bodyPr/>
          <a:lstStyle/>
          <a:p>
            <a:pPr>
              <a:defRPr sz="2000"/>
            </a:pPr>
            <a:r>
              <a:t>1. Nivel Freemium ($0 COP): Diagnóstico, detector de excusas y descarga manual de los 3 oficios gratis.</a:t>
            </a:r>
          </a:p>
          <a:p>
            <a:pPr>
              <a:defRPr sz="2000"/>
            </a:pPr>
            <a:r>
              <a:t>2. Micro-pago B2C ($19.900 COP por caso, 0% comisión sobre lo recuperado): Radicación triple certificada SHA-256 y reloj de 15 días.</a:t>
            </a:r>
          </a:p>
          <a:p>
            <a:pPr>
              <a:defRPr sz="2000"/>
            </a:pPr>
            <a:r>
              <a:t>3. SaaS B2B ($290.000 a $1.200.000 COP/mes): API de autogestión de retractos para comercios y pasarelas que evita multas de hasta 2.000 SMLMV.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10 (09:30-10:00): Impacto y Demostración en Vivo</a:t>
            </a:r>
          </a:p>
        </p:txBody>
      </p:sp>
      <p:sp>
        <p:nvSpPr>
          <p:cNvPr id="3" name="Content Placeholder 2"/>
          <p:cNvSpPr>
            <a:spLocks noGrp="1"/>
          </p:cNvSpPr>
          <p:nvPr>
            <p:ph idx="1"/>
          </p:nvPr>
        </p:nvSpPr>
        <p:spPr/>
        <p:txBody>
          <a:bodyPr/>
          <a:lstStyle/>
          <a:p>
            <a:pPr>
              <a:defRPr sz="2000"/>
            </a:pPr>
            <a:r>
              <a:t>Entregable 1: Aplicación Web Interactiva 100% funcional (4 pantallas + 4 casos reales).</a:t>
            </a:r>
          </a:p>
          <a:p>
            <a:pPr>
              <a:defRPr sz="2000"/>
            </a:pPr>
            <a:r>
              <a:t>Entregable 2: Resumen Ejecutivo de 1 página exacta en PDF.</a:t>
            </a:r>
          </a:p>
          <a:p>
            <a:pPr>
              <a:defRPr sz="2000"/>
            </a:pPr>
            <a:r>
              <a:t>Entregable 3: Presentación de 10 minutos con notas de orador Clarity.</a:t>
            </a:r>
          </a:p>
          <a:p>
            <a:pPr>
              <a:defRPr sz="2000"/>
            </a:pPr>
            <a:r>
              <a:t>Entregable 4: 5 Videos dinámicos de Motion Graphics de 45 segundos cada uno.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