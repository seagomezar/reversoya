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tardes. ¿A cuántos de ustedes les ha pasado que compran algo por internet o redes sociales, pagan por PSE o Nequi, el producto nunca llega o llega roto, y la tienda responde: ‘no devolvemos plata, solo damos un bono’? Para resolver ese problema cotidiano en Colombia creamos ReversoYa. Nuestro símbolo une un escudo azul naval de certeza jurídica con una flecha circular verde esmeralda que representa el retorno íntegro del dinero a la cuenta del ciudadano. Nuestro eslogan resume nuestra tesis: ‘Tu plata de vuelta por ley, sin rogarle al comercio’.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Veamos la dimensión del problema en el país. Según la Cámara Colombiana de Comercio Electrónico, en Colombia se realizan más de 370 millones de transacciones digitales al año. Sin embargo, cuando una compra falla, el consumidor choca contra cuatro excusas improcedentes del comercio y el alto costo de contratar un abogado particular.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Colombia cuenta con una legislación robusta anclada en los artículos 78 y 229 de la Constitución, la Ley 1480 de 2011 y el Decreto 587 de 2016: si notificas dentro de los 5 días hábiles siguientes al incumplimiento, tu propio banco está obligado a reversar el 100% del dinero en máximo 15 días hábiles.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segmento B2C nos dirigimos a compradores digitales y viajeros en Colombia entre los 18 y 55 años que usan PSE, Nequi, Daviplata o tarjetas; y en el segmento B2B, a pasarelas y comercios formales.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Pantalla 1 el usuario valida cuántos de los 5 días hábiles le quedan, y en la Pantalla 2 analiza la respuesta del vendedor en WhatsApp y certifica los soportes con huella SHA-256 conforme a la Ley 527 de 1999.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Pantalla 3 ReversoYa genera los 3 documentos formales con todos los requisitos del Decreto 587 para que el banco no pueda rechazarlos, y en la Pantalla 4 controla los 15 días hábiles hasta el abono efectivo.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módulo aeronáutico bajo el RAC 3 de la Aerocivil, si sobrevenden un tiquete de $540.000 pesos, ReversoYa calcula automáticamente $702.000 pesos exigibles en efectivo (100% del pasaje más 30% de compensación).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comparar con lo que existe hoy en Colombia vemos nuestra ventaja: ni SIC Facilita ni las apps de peticiones simples accionan la obligación del banco emisor. ReversoYa activa el reembolso bancario forzoso en 15 días hábiles.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Nuestro modelo combina un nivel Freemium gratuito con una tarifa plana de $19.900 pesos por radicación asistida (sin cobrar comisión sobre lo recuperado) y una licencia B2B SaaS mensual para comercios y pasarelas.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conclusión: con ReversoYa demostramos que cuando el artículo 78 de la Constitución y la Ley 1480 se traducen en una herramienta clara para el ciudadano, el abuso comercial deja de ser rentable. Muchas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11277295" cy="502920"/>
          </a:xfrm>
          <a:prstGeom prst="roundRect">
            <a:avLst/>
          </a:prstGeom>
          <a:solidFill>
            <a:srgbClr val="131A33"/>
          </a:solidFill>
          <a:ln w="1524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DIAPOSITIVA 1 DE 10   |   1. NOMBRE · LOGO · ESLOGAN</a:t>
            </a:r>
          </a:p>
        </p:txBody>
      </p:sp>
      <p:sp>
        <p:nvSpPr>
          <p:cNvPr id="4" name="TextBox 3"/>
          <p:cNvSpPr txBox="1"/>
          <p:nvPr/>
        </p:nvSpPr>
        <p:spPr>
          <a:xfrm>
            <a:off x="457200" y="960120"/>
            <a:ext cx="6492240" cy="1325880"/>
          </a:xfrm>
          <a:prstGeom prst="rect">
            <a:avLst/>
          </a:prstGeom>
          <a:noFill/>
        </p:spPr>
        <p:txBody>
          <a:bodyPr wrap="square">
            <a:spAutoFit/>
          </a:bodyPr>
          <a:lstStyle/>
          <a:p>
            <a:pPr>
              <a:defRPr sz="2300" b="1">
                <a:solidFill>
                  <a:srgbClr val="FFFFFF"/>
                </a:solidFill>
                <a:latin typeface="Segoe UI"/>
              </a:defRPr>
            </a:pPr>
            <a:r>
              <a:t>ReversoYa: “Tu plata de vuelta por ley, sin rogarle al comercio”</a:t>
            </a:r>
          </a:p>
          <a:p>
            <a:pPr>
              <a:defRPr sz="1250">
                <a:solidFill>
                  <a:srgbClr val="CBD5E1"/>
                </a:solidFill>
                <a:latin typeface="Segoe UI"/>
              </a:defRPr>
            </a:pPr>
            <a:r>
              <a:t>Plataforma LegalTech colombiana para reversión de pago, retracto, garantías y compensación aérea RAC 3.</a:t>
            </a:r>
          </a:p>
        </p:txBody>
      </p:sp>
      <p:sp>
        <p:nvSpPr>
          <p:cNvPr id="5" name="Rounded Rectangle 4"/>
          <p:cNvSpPr/>
          <p:nvPr/>
        </p:nvSpPr>
        <p:spPr>
          <a:xfrm>
            <a:off x="457200" y="2395728"/>
            <a:ext cx="6492240" cy="1170432"/>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NOMBRE Y MARCA</a:t>
            </a:r>
          </a:p>
          <a:p>
            <a:pPr>
              <a:defRPr sz="1250">
                <a:solidFill>
                  <a:srgbClr val="F8FAFC"/>
                </a:solidFill>
                <a:latin typeface="Segoe UI"/>
              </a:defRPr>
            </a:pPr>
            <a:r>
              <a:t>ReversoYa: Acción directa sobre el dinero retenido en compras digitales.</a:t>
            </a:r>
          </a:p>
        </p:txBody>
      </p:sp>
      <p:sp>
        <p:nvSpPr>
          <p:cNvPr id="6" name="Rounded Rectangle 5"/>
          <p:cNvSpPr/>
          <p:nvPr/>
        </p:nvSpPr>
        <p:spPr>
          <a:xfrm>
            <a:off x="457200" y="3694176"/>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SÍMBOLO (LOGO)</a:t>
            </a:r>
          </a:p>
          <a:p>
            <a:pPr>
              <a:defRPr sz="1250">
                <a:solidFill>
                  <a:srgbClr val="F8FAFC"/>
                </a:solidFill>
                <a:latin typeface="Segoe UI"/>
              </a:defRPr>
            </a:pPr>
            <a:r>
              <a:t>Escudo institucional (#0B132B) con flecha circular de restitución en verde esmeralda (#00C48C).</a:t>
            </a:r>
          </a:p>
        </p:txBody>
      </p:sp>
      <p:sp>
        <p:nvSpPr>
          <p:cNvPr id="7" name="Rounded Rectangle 6"/>
          <p:cNvSpPr/>
          <p:nvPr/>
        </p:nvSpPr>
        <p:spPr>
          <a:xfrm>
            <a:off x="457200" y="4992624"/>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REGLA OPERATIVA</a:t>
            </a:r>
          </a:p>
          <a:p>
            <a:pPr>
              <a:defRPr sz="1250">
                <a:solidFill>
                  <a:srgbClr val="F8FAFC"/>
                </a:solidFill>
                <a:latin typeface="Segoe UI"/>
              </a:defRPr>
            </a:pPr>
            <a:r>
              <a:t>Notificación formal en 5 días hábiles → Reembolso bancario en máximo 15 días hábiles.</a:t>
            </a:r>
          </a:p>
        </p:txBody>
      </p:sp>
      <p:pic>
        <p:nvPicPr>
          <p:cNvPr id="8" name="Picture 7" descr="image.png"/>
          <p:cNvPicPr>
            <a:picLocks noChangeAspect="1"/>
          </p:cNvPicPr>
          <p:nvPr/>
        </p:nvPicPr>
        <p:blipFill>
          <a:blip r:embed="rId2"/>
          <a:stretch>
            <a:fillRect/>
          </a:stretch>
        </p:blipFill>
        <p:spPr>
          <a:xfrm>
            <a:off x="7178040" y="987552"/>
            <a:ext cx="4553712" cy="3348318"/>
          </a:xfrm>
          <a:prstGeom prst="rect">
            <a:avLst/>
          </a:prstGeom>
        </p:spPr>
      </p:pic>
      <p:sp>
        <p:nvSpPr>
          <p:cNvPr id="9" name="Rounded Rectangle 8"/>
          <p:cNvSpPr/>
          <p:nvPr/>
        </p:nvSpPr>
        <p:spPr>
          <a:xfrm>
            <a:off x="7178040" y="4480560"/>
            <a:ext cx="4553712" cy="1682496"/>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FUNDAMENTO NORMATIVO EN COLOMBIA</a:t>
            </a:r>
          </a:p>
          <a:p>
            <a:pPr>
              <a:defRPr sz="1150" b="1">
                <a:solidFill>
                  <a:srgbClr val="FFFFFF"/>
                </a:solidFill>
                <a:latin typeface="Segoe UI"/>
              </a:defRPr>
            </a:pPr>
            <a:r>
              <a:t>Art. 51 Ley 1480 de 2011 · Decreto 587 de 2016</a:t>
            </a:r>
          </a:p>
          <a:p>
            <a:pPr>
              <a:defRPr sz="1100">
                <a:solidFill>
                  <a:srgbClr val="CBD5E1"/>
                </a:solidFill>
                <a:latin typeface="Segoe UI"/>
              </a:defRPr>
            </a:pPr>
            <a:r>
              <a:t>ReversoYa: Acción directa sobre el dinero retenido en compras digitales.</a:t>
            </a:r>
          </a:p>
        </p:txBody>
      </p:sp>
      <p:sp>
        <p:nvSpPr>
          <p:cNvPr id="10" name="TextBox 9"/>
          <p:cNvSpPr txBox="1"/>
          <p:nvPr/>
        </p:nvSpPr>
        <p:spPr>
          <a:xfrm>
            <a:off x="457200" y="6355080"/>
            <a:ext cx="11277295" cy="320040"/>
          </a:xfrm>
          <a:prstGeom prst="rect">
            <a:avLst/>
          </a:prstGeom>
          <a:noFill/>
        </p:spPr>
        <p:txBody>
          <a:bodyPr wrap="none">
            <a:spAutoFit/>
          </a:bodyPr>
          <a:lstStyle/>
          <a:p>
            <a:pPr>
              <a:defRPr sz="1000">
                <a:solidFill>
                  <a:srgbClr val="94A3B8"/>
                </a:solidFill>
                <a:latin typeface="Segoe UI"/>
              </a:defRPr>
            </a:pPr>
            <a:r>
              <a:t>ReversoYa Colombia · Ley 1480 de 2011 · Decreto 587 de 2016 · RAC 3 Aerocivil   |   Diapositiva 1 de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11277295" cy="502920"/>
          </a:xfrm>
          <a:prstGeom prst="roundRect">
            <a:avLst/>
          </a:prstGeom>
          <a:solidFill>
            <a:srgbClr val="131A33"/>
          </a:solidFill>
          <a:ln w="1524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DIAPOSITIVA 2 DE 10   |   2. IDENTIFICACIÓN DEL PROBLEMA EN COLOMBIA</a:t>
            </a:r>
          </a:p>
        </p:txBody>
      </p:sp>
      <p:sp>
        <p:nvSpPr>
          <p:cNvPr id="4" name="TextBox 3"/>
          <p:cNvSpPr txBox="1"/>
          <p:nvPr/>
        </p:nvSpPr>
        <p:spPr>
          <a:xfrm>
            <a:off x="457200" y="960120"/>
            <a:ext cx="6492240" cy="1325880"/>
          </a:xfrm>
          <a:prstGeom prst="rect">
            <a:avLst/>
          </a:prstGeom>
          <a:noFill/>
        </p:spPr>
        <p:txBody>
          <a:bodyPr wrap="square">
            <a:spAutoFit/>
          </a:bodyPr>
          <a:lstStyle/>
          <a:p>
            <a:pPr>
              <a:defRPr sz="2300" b="1">
                <a:solidFill>
                  <a:srgbClr val="FFFFFF"/>
                </a:solidFill>
                <a:latin typeface="Segoe UI"/>
              </a:defRPr>
            </a:pPr>
            <a:r>
              <a:t>370 millones de pagos digitales y reclamos que se abandonan</a:t>
            </a:r>
          </a:p>
          <a:p>
            <a:pPr>
              <a:defRPr sz="1250">
                <a:solidFill>
                  <a:srgbClr val="CBD5E1"/>
                </a:solidFill>
                <a:latin typeface="Segoe UI"/>
              </a:defRPr>
            </a:pPr>
            <a:r>
              <a:t>El comercio digital en Colombia supera los $62 billones COP anuales (CCCE), pero el ciudadano choca con dos barreras:</a:t>
            </a:r>
          </a:p>
        </p:txBody>
      </p:sp>
      <p:sp>
        <p:nvSpPr>
          <p:cNvPr id="5" name="Rounded Rectangle 4"/>
          <p:cNvSpPr/>
          <p:nvPr/>
        </p:nvSpPr>
        <p:spPr>
          <a:xfrm>
            <a:off x="457200" y="2395728"/>
            <a:ext cx="6492240" cy="1170432"/>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BARRERA 1: LAS 4 EXCUSAS DEL COMERCIO</a:t>
            </a:r>
          </a:p>
          <a:p>
            <a:pPr>
              <a:defRPr sz="1250">
                <a:solidFill>
                  <a:srgbClr val="F8FAFC"/>
                </a:solidFill>
                <a:latin typeface="Segoe UI"/>
              </a:defRPr>
            </a:pPr>
            <a:r>
              <a:t>1) 'Solo damos bono', 2) 'Reclámele a la transportadora', 3) 'En promoción no hay garantía', 4) 'Espere 60 días'.</a:t>
            </a:r>
          </a:p>
        </p:txBody>
      </p:sp>
      <p:sp>
        <p:nvSpPr>
          <p:cNvPr id="6" name="Rounded Rectangle 5"/>
          <p:cNvSpPr/>
          <p:nvPr/>
        </p:nvSpPr>
        <p:spPr>
          <a:xfrm>
            <a:off x="457200" y="3694176"/>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BARRERA 2: ASIMETRÍA ECONÓMICA</a:t>
            </a:r>
          </a:p>
          <a:p>
            <a:pPr>
              <a:defRPr sz="1250">
                <a:solidFill>
                  <a:srgbClr val="F8FAFC"/>
                </a:solidFill>
                <a:latin typeface="Segoe UI"/>
              </a:defRPr>
            </a:pPr>
            <a:r>
              <a:t>Pagar un abogado cuesta entre $400.000 y $800.000 COP, superando el valor de las compras cotidianas ($80k a $900k COP).</a:t>
            </a:r>
          </a:p>
        </p:txBody>
      </p:sp>
      <p:sp>
        <p:nvSpPr>
          <p:cNvPr id="7" name="Rounded Rectangle 6"/>
          <p:cNvSpPr/>
          <p:nvPr/>
        </p:nvSpPr>
        <p:spPr>
          <a:xfrm>
            <a:off x="457200" y="4992624"/>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BARRERA 3: EL PLAZO OCULTO DE 5 DÍAS</a:t>
            </a:r>
          </a:p>
          <a:p>
            <a:pPr>
              <a:defRPr sz="1250">
                <a:solidFill>
                  <a:srgbClr val="F8FAFC"/>
                </a:solidFill>
                <a:latin typeface="Segoe UI"/>
              </a:defRPr>
            </a:pPr>
            <a:r>
              <a:t>La ley obliga al banco a devolver el dinero, pero exige radicar una solicitud formal dentro de los primeros 5 días hábiles.</a:t>
            </a:r>
          </a:p>
        </p:txBody>
      </p:sp>
      <p:pic>
        <p:nvPicPr>
          <p:cNvPr id="8" name="Picture 7" descr="image.png"/>
          <p:cNvPicPr>
            <a:picLocks noChangeAspect="1"/>
          </p:cNvPicPr>
          <p:nvPr/>
        </p:nvPicPr>
        <p:blipFill>
          <a:blip r:embed="rId2"/>
          <a:stretch>
            <a:fillRect/>
          </a:stretch>
        </p:blipFill>
        <p:spPr>
          <a:xfrm>
            <a:off x="7178040" y="987552"/>
            <a:ext cx="4553712" cy="3348318"/>
          </a:xfrm>
          <a:prstGeom prst="rect">
            <a:avLst/>
          </a:prstGeom>
        </p:spPr>
      </p:pic>
      <p:sp>
        <p:nvSpPr>
          <p:cNvPr id="9" name="Rounded Rectangle 8"/>
          <p:cNvSpPr/>
          <p:nvPr/>
        </p:nvSpPr>
        <p:spPr>
          <a:xfrm>
            <a:off x="7178040" y="4480560"/>
            <a:ext cx="4553712" cy="1682496"/>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FUNDAMENTO NORMATIVO EN COLOMBIA</a:t>
            </a:r>
          </a:p>
          <a:p>
            <a:pPr>
              <a:defRPr sz="1150" b="1">
                <a:solidFill>
                  <a:srgbClr val="FFFFFF"/>
                </a:solidFill>
                <a:latin typeface="Segoe UI"/>
              </a:defRPr>
            </a:pPr>
            <a:r>
              <a:t>Cámara Colombiana de Comercio Electrónico (CCCE) · Informes SIC</a:t>
            </a:r>
          </a:p>
          <a:p>
            <a:pPr>
              <a:defRPr sz="1100">
                <a:solidFill>
                  <a:srgbClr val="CBD5E1"/>
                </a:solidFill>
                <a:latin typeface="Segoe UI"/>
              </a:defRPr>
            </a:pPr>
            <a:r>
              <a:t>1) 'Solo damos bono', 2) 'Reclámele a la transportadora', 3) 'En promoción no hay garantía', 4) 'Espere 60 días'.</a:t>
            </a:r>
          </a:p>
        </p:txBody>
      </p:sp>
      <p:sp>
        <p:nvSpPr>
          <p:cNvPr id="10" name="TextBox 9"/>
          <p:cNvSpPr txBox="1"/>
          <p:nvPr/>
        </p:nvSpPr>
        <p:spPr>
          <a:xfrm>
            <a:off x="457200" y="6355080"/>
            <a:ext cx="11277295" cy="320040"/>
          </a:xfrm>
          <a:prstGeom prst="rect">
            <a:avLst/>
          </a:prstGeom>
          <a:noFill/>
        </p:spPr>
        <p:txBody>
          <a:bodyPr wrap="none">
            <a:spAutoFit/>
          </a:bodyPr>
          <a:lstStyle/>
          <a:p>
            <a:pPr>
              <a:defRPr sz="1000">
                <a:solidFill>
                  <a:srgbClr val="94A3B8"/>
                </a:solidFill>
                <a:latin typeface="Segoe UI"/>
              </a:defRPr>
            </a:pPr>
            <a:r>
              <a:t>ReversoYa Colombia · Ley 1480 de 2011 · Decreto 587 de 2016 · RAC 3 Aerocivil   |   Diapositiva 2 de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11277295" cy="502920"/>
          </a:xfrm>
          <a:prstGeom prst="roundRect">
            <a:avLst/>
          </a:prstGeom>
          <a:solidFill>
            <a:srgbClr val="131A33"/>
          </a:solidFill>
          <a:ln w="1524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DIAPOSITIVA 3 DE 10   |   2. PROBLEMA JURÍDICO · DERECHOS · LEGISLACIÓN</a:t>
            </a:r>
          </a:p>
        </p:txBody>
      </p:sp>
      <p:sp>
        <p:nvSpPr>
          <p:cNvPr id="4" name="TextBox 3"/>
          <p:cNvSpPr txBox="1"/>
          <p:nvPr/>
        </p:nvSpPr>
        <p:spPr>
          <a:xfrm>
            <a:off x="457200" y="960120"/>
            <a:ext cx="6492240" cy="1325880"/>
          </a:xfrm>
          <a:prstGeom prst="rect">
            <a:avLst/>
          </a:prstGeom>
          <a:noFill/>
        </p:spPr>
        <p:txBody>
          <a:bodyPr wrap="square">
            <a:spAutoFit/>
          </a:bodyPr>
          <a:lstStyle/>
          <a:p>
            <a:pPr>
              <a:defRPr sz="2300" b="1">
                <a:solidFill>
                  <a:srgbClr val="FFFFFF"/>
                </a:solidFill>
                <a:latin typeface="Segoe UI"/>
              </a:defRPr>
            </a:pPr>
            <a:r>
              <a:t>Arquitectura Normativa: El derecho ya existe en Colombia</a:t>
            </a:r>
          </a:p>
          <a:p>
            <a:pPr>
              <a:defRPr sz="1250">
                <a:solidFill>
                  <a:srgbClr val="CBD5E1"/>
                </a:solidFill>
                <a:latin typeface="Segoe UI"/>
              </a:defRPr>
            </a:pPr>
            <a:r>
              <a:t>Articulación entre Constitución Política, Derechos Humanos, Estatuto del Consumidor y Decreto 587 de 2016:</a:t>
            </a:r>
          </a:p>
        </p:txBody>
      </p:sp>
      <p:sp>
        <p:nvSpPr>
          <p:cNvPr id="5" name="Rounded Rectangle 4"/>
          <p:cNvSpPr/>
          <p:nvPr/>
        </p:nvSpPr>
        <p:spPr>
          <a:xfrm>
            <a:off x="457200" y="2395728"/>
            <a:ext cx="6492240" cy="1170432"/>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CONSTITUCIÓN Y DD. HH.</a:t>
            </a:r>
          </a:p>
          <a:p>
            <a:pPr>
              <a:defRPr sz="1250">
                <a:solidFill>
                  <a:srgbClr val="F8FAFC"/>
                </a:solidFill>
                <a:latin typeface="Segoe UI"/>
              </a:defRPr>
            </a:pPr>
            <a:r>
              <a:t>Art. 78 C.P. (protección al consumidor), Art. 229 C.P. (acceso a la justicia) y Directrices ONU (Res. A/RES/70/186).</a:t>
            </a:r>
          </a:p>
        </p:txBody>
      </p:sp>
      <p:sp>
        <p:nvSpPr>
          <p:cNvPr id="6" name="Rounded Rectangle 5"/>
          <p:cNvSpPr/>
          <p:nvPr/>
        </p:nvSpPr>
        <p:spPr>
          <a:xfrm>
            <a:off x="457200" y="3694176"/>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LEY 1480 DE 2011</a:t>
            </a:r>
          </a:p>
          <a:p>
            <a:pPr>
              <a:defRPr sz="1250">
                <a:solidFill>
                  <a:srgbClr val="F8FAFC"/>
                </a:solidFill>
                <a:latin typeface="Segoe UI"/>
              </a:defRPr>
            </a:pPr>
            <a:r>
              <a:t>Art. 51 (Reversión de pago), Art. 47 (Retracto en 5 días en dinero, sin bonos) y Arts. 7, 8 y 43 (Garantía en promociones).</a:t>
            </a:r>
          </a:p>
        </p:txBody>
      </p:sp>
      <p:sp>
        <p:nvSpPr>
          <p:cNvPr id="7" name="Rounded Rectangle 6"/>
          <p:cNvSpPr/>
          <p:nvPr/>
        </p:nvSpPr>
        <p:spPr>
          <a:xfrm>
            <a:off x="457200" y="4992624"/>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DECRETO 587 DE 2016 Y RAC 3</a:t>
            </a:r>
          </a:p>
          <a:p>
            <a:pPr>
              <a:defRPr sz="1250">
                <a:solidFill>
                  <a:srgbClr val="F8FAFC"/>
                </a:solidFill>
                <a:latin typeface="Segoe UI"/>
              </a:defRPr>
            </a:pPr>
            <a:r>
              <a:t>Art. 2.2.2.51.4 (5 días para avisar) → Art. 2.2.2.51.5 (15 días para que el banco abone el 100%) + RAC 3 Aerocivil (30% extra).</a:t>
            </a:r>
          </a:p>
        </p:txBody>
      </p:sp>
      <p:pic>
        <p:nvPicPr>
          <p:cNvPr id="8" name="Picture 7" descr="image.png"/>
          <p:cNvPicPr>
            <a:picLocks noChangeAspect="1"/>
          </p:cNvPicPr>
          <p:nvPr/>
        </p:nvPicPr>
        <p:blipFill>
          <a:blip r:embed="rId2"/>
          <a:stretch>
            <a:fillRect/>
          </a:stretch>
        </p:blipFill>
        <p:spPr>
          <a:xfrm>
            <a:off x="7178040" y="987552"/>
            <a:ext cx="4553712" cy="3348318"/>
          </a:xfrm>
          <a:prstGeom prst="rect">
            <a:avLst/>
          </a:prstGeom>
        </p:spPr>
      </p:pic>
      <p:sp>
        <p:nvSpPr>
          <p:cNvPr id="9" name="Rounded Rectangle 8"/>
          <p:cNvSpPr/>
          <p:nvPr/>
        </p:nvSpPr>
        <p:spPr>
          <a:xfrm>
            <a:off x="7178040" y="4480560"/>
            <a:ext cx="4553712" cy="1682496"/>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FUNDAMENTO NORMATIVO EN COLOMBIA</a:t>
            </a:r>
          </a:p>
          <a:p>
            <a:pPr>
              <a:defRPr sz="1150" b="1">
                <a:solidFill>
                  <a:srgbClr val="FFFFFF"/>
                </a:solidFill>
                <a:latin typeface="Segoe UI"/>
              </a:defRPr>
            </a:pPr>
            <a:r>
              <a:t>Arts. 78 y 229 C.P. · Ley 1480/2011 · Decreto 587/2016 · RAC 3</a:t>
            </a:r>
          </a:p>
          <a:p>
            <a:pPr>
              <a:defRPr sz="1100">
                <a:solidFill>
                  <a:srgbClr val="CBD5E1"/>
                </a:solidFill>
                <a:latin typeface="Segoe UI"/>
              </a:defRPr>
            </a:pPr>
            <a:r>
              <a:t>Art. 78 C.P. (protección al consumidor), Art. 229 C.P. (acceso a la justicia) y Directrices ONU (Res. A/RES/70/186).</a:t>
            </a:r>
          </a:p>
        </p:txBody>
      </p:sp>
      <p:sp>
        <p:nvSpPr>
          <p:cNvPr id="10" name="TextBox 9"/>
          <p:cNvSpPr txBox="1"/>
          <p:nvPr/>
        </p:nvSpPr>
        <p:spPr>
          <a:xfrm>
            <a:off x="457200" y="6355080"/>
            <a:ext cx="11277295" cy="320040"/>
          </a:xfrm>
          <a:prstGeom prst="rect">
            <a:avLst/>
          </a:prstGeom>
          <a:noFill/>
        </p:spPr>
        <p:txBody>
          <a:bodyPr wrap="none">
            <a:spAutoFit/>
          </a:bodyPr>
          <a:lstStyle/>
          <a:p>
            <a:pPr>
              <a:defRPr sz="1000">
                <a:solidFill>
                  <a:srgbClr val="94A3B8"/>
                </a:solidFill>
                <a:latin typeface="Segoe UI"/>
              </a:defRPr>
            </a:pPr>
            <a:r>
              <a:t>ReversoYa Colombia · Ley 1480 de 2011 · Decreto 587 de 2016 · RAC 3 Aerocivil   |   Diapositiva 3 de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11277295" cy="502920"/>
          </a:xfrm>
          <a:prstGeom prst="roundRect">
            <a:avLst/>
          </a:prstGeom>
          <a:solidFill>
            <a:srgbClr val="131A33"/>
          </a:solidFill>
          <a:ln w="1524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DIAPOSITIVA 4 DE 10   |   3. PÚBLICO OBJETIVO</a:t>
            </a:r>
          </a:p>
        </p:txBody>
      </p:sp>
      <p:sp>
        <p:nvSpPr>
          <p:cNvPr id="4" name="TextBox 3"/>
          <p:cNvSpPr txBox="1"/>
          <p:nvPr/>
        </p:nvSpPr>
        <p:spPr>
          <a:xfrm>
            <a:off x="457200" y="960120"/>
            <a:ext cx="6492240" cy="1325880"/>
          </a:xfrm>
          <a:prstGeom prst="rect">
            <a:avLst/>
          </a:prstGeom>
          <a:noFill/>
        </p:spPr>
        <p:txBody>
          <a:bodyPr wrap="square">
            <a:spAutoFit/>
          </a:bodyPr>
          <a:lstStyle/>
          <a:p>
            <a:pPr>
              <a:defRPr sz="2300" b="1">
                <a:solidFill>
                  <a:srgbClr val="FFFFFF"/>
                </a:solidFill>
                <a:latin typeface="Segoe UI"/>
              </a:defRPr>
            </a:pPr>
            <a:r>
              <a:t>Público Objetivo: Compradores digitales y ecosistema B2B</a:t>
            </a:r>
          </a:p>
          <a:p>
            <a:pPr>
              <a:defRPr sz="1250">
                <a:solidFill>
                  <a:srgbClr val="CBD5E1"/>
                </a:solidFill>
                <a:latin typeface="Segoe UI"/>
              </a:defRPr>
            </a:pPr>
            <a:r>
              <a:t>Diseñado para ciudadanos sin conocimientos jurídicos y para el ecosistema de pagos electrónicos:</a:t>
            </a:r>
          </a:p>
        </p:txBody>
      </p:sp>
      <p:sp>
        <p:nvSpPr>
          <p:cNvPr id="5" name="Rounded Rectangle 4"/>
          <p:cNvSpPr/>
          <p:nvPr/>
        </p:nvSpPr>
        <p:spPr>
          <a:xfrm>
            <a:off x="457200" y="2395728"/>
            <a:ext cx="6492240" cy="1170432"/>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SEGMENTO B2C (CIUDADANOS)</a:t>
            </a:r>
          </a:p>
          <a:p>
            <a:pPr>
              <a:defRPr sz="1250">
                <a:solidFill>
                  <a:srgbClr val="F8FAFC"/>
                </a:solidFill>
                <a:latin typeface="Segoe UI"/>
              </a:defRPr>
            </a:pPr>
            <a:r>
              <a:t>Colombianos de 18 a 55 años (estratos 2 al 5) que compran online, en Instagram/WhatsApp o aerolíneas.</a:t>
            </a:r>
          </a:p>
        </p:txBody>
      </p:sp>
      <p:sp>
        <p:nvSpPr>
          <p:cNvPr id="6" name="Rounded Rectangle 5"/>
          <p:cNvSpPr/>
          <p:nvPr/>
        </p:nvSpPr>
        <p:spPr>
          <a:xfrm>
            <a:off x="457200" y="3694176"/>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MEDIOS Y CUANTÍAS</a:t>
            </a:r>
          </a:p>
          <a:p>
            <a:pPr>
              <a:defRPr sz="1250">
                <a:solidFill>
                  <a:srgbClr val="F8FAFC"/>
                </a:solidFill>
                <a:latin typeface="Segoe UI"/>
              </a:defRPr>
            </a:pPr>
            <a:r>
              <a:t>Usuarios de PSE, Nequi, Daviplata y tarjetas con reclamos entre $80.000 y $4.000.000 COP.</a:t>
            </a:r>
          </a:p>
        </p:txBody>
      </p:sp>
      <p:sp>
        <p:nvSpPr>
          <p:cNvPr id="7" name="Rounded Rectangle 6"/>
          <p:cNvSpPr/>
          <p:nvPr/>
        </p:nvSpPr>
        <p:spPr>
          <a:xfrm>
            <a:off x="457200" y="4992624"/>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SEGMENTO B2B (COMERCIOS Y PASARELAS)</a:t>
            </a:r>
          </a:p>
          <a:p>
            <a:pPr>
              <a:defRPr sz="1250">
                <a:solidFill>
                  <a:srgbClr val="F8FAFC"/>
                </a:solidFill>
                <a:latin typeface="Segoe UI"/>
              </a:defRPr>
            </a:pPr>
            <a:r>
              <a:t>Pasarelas (Wompi, Bold, Mercado Pago) y comercios que previenen demandas SIC y multas de hasta 2.000 SMLMV.</a:t>
            </a:r>
          </a:p>
        </p:txBody>
      </p:sp>
      <p:pic>
        <p:nvPicPr>
          <p:cNvPr id="8" name="Picture 7" descr="image.png"/>
          <p:cNvPicPr>
            <a:picLocks noChangeAspect="1"/>
          </p:cNvPicPr>
          <p:nvPr/>
        </p:nvPicPr>
        <p:blipFill>
          <a:blip r:embed="rId2"/>
          <a:stretch>
            <a:fillRect/>
          </a:stretch>
        </p:blipFill>
        <p:spPr>
          <a:xfrm>
            <a:off x="7178040" y="987552"/>
            <a:ext cx="4553712" cy="3348318"/>
          </a:xfrm>
          <a:prstGeom prst="rect">
            <a:avLst/>
          </a:prstGeom>
        </p:spPr>
      </p:pic>
      <p:sp>
        <p:nvSpPr>
          <p:cNvPr id="9" name="Rounded Rectangle 8"/>
          <p:cNvSpPr/>
          <p:nvPr/>
        </p:nvSpPr>
        <p:spPr>
          <a:xfrm>
            <a:off x="7178040" y="4480560"/>
            <a:ext cx="4553712" cy="1682496"/>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FUNDAMENTO NORMATIVO EN COLOMBIA</a:t>
            </a:r>
          </a:p>
          <a:p>
            <a:pPr>
              <a:defRPr sz="1150" b="1">
                <a:solidFill>
                  <a:srgbClr val="FFFFFF"/>
                </a:solidFill>
                <a:latin typeface="Segoe UI"/>
              </a:defRPr>
            </a:pPr>
            <a:r>
              <a:t>Acceso Material a la Justicia (Art. 229 C.P. y Art. 61 Ley 1480)</a:t>
            </a:r>
          </a:p>
          <a:p>
            <a:pPr>
              <a:defRPr sz="1100">
                <a:solidFill>
                  <a:srgbClr val="CBD5E1"/>
                </a:solidFill>
                <a:latin typeface="Segoe UI"/>
              </a:defRPr>
            </a:pPr>
            <a:r>
              <a:t>Colombianos de 18 a 55 años (estratos 2 al 5) que compran online, en Instagram/WhatsApp o aerolíneas.</a:t>
            </a:r>
          </a:p>
        </p:txBody>
      </p:sp>
      <p:sp>
        <p:nvSpPr>
          <p:cNvPr id="10" name="TextBox 9"/>
          <p:cNvSpPr txBox="1"/>
          <p:nvPr/>
        </p:nvSpPr>
        <p:spPr>
          <a:xfrm>
            <a:off x="457200" y="6355080"/>
            <a:ext cx="11277295" cy="320040"/>
          </a:xfrm>
          <a:prstGeom prst="rect">
            <a:avLst/>
          </a:prstGeom>
          <a:noFill/>
        </p:spPr>
        <p:txBody>
          <a:bodyPr wrap="none">
            <a:spAutoFit/>
          </a:bodyPr>
          <a:lstStyle/>
          <a:p>
            <a:pPr>
              <a:defRPr sz="1000">
                <a:solidFill>
                  <a:srgbClr val="94A3B8"/>
                </a:solidFill>
                <a:latin typeface="Segoe UI"/>
              </a:defRPr>
            </a:pPr>
            <a:r>
              <a:t>ReversoYa Colombia · Ley 1480 de 2011 · Decreto 587 de 2016 · RAC 3 Aerocivil   |   Diapositiva 4 de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11277295" cy="502920"/>
          </a:xfrm>
          <a:prstGeom prst="roundRect">
            <a:avLst/>
          </a:prstGeom>
          <a:solidFill>
            <a:srgbClr val="131A33"/>
          </a:solidFill>
          <a:ln w="1524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DIAPOSITIVA 5 DE 10   |   4. SOLUCIÓN Y FLUJO DE PANTALLAS (PARTE 1)</a:t>
            </a:r>
          </a:p>
        </p:txBody>
      </p:sp>
      <p:sp>
        <p:nvSpPr>
          <p:cNvPr id="4" name="TextBox 3"/>
          <p:cNvSpPr txBox="1"/>
          <p:nvPr/>
        </p:nvSpPr>
        <p:spPr>
          <a:xfrm>
            <a:off x="457200" y="960120"/>
            <a:ext cx="6492240" cy="1325880"/>
          </a:xfrm>
          <a:prstGeom prst="rect">
            <a:avLst/>
          </a:prstGeom>
          <a:noFill/>
        </p:spPr>
        <p:txBody>
          <a:bodyPr wrap="square">
            <a:spAutoFit/>
          </a:bodyPr>
          <a:lstStyle/>
          <a:p>
            <a:pPr>
              <a:defRPr sz="2300" b="1">
                <a:solidFill>
                  <a:srgbClr val="FFFFFF"/>
                </a:solidFill>
                <a:latin typeface="Segoe UI"/>
              </a:defRPr>
            </a:pPr>
            <a:r>
              <a:t>Flujo Guiado: Pantallas 1 y 2 (Plazo y Auditoría de Excusas)</a:t>
            </a:r>
          </a:p>
          <a:p>
            <a:pPr>
              <a:defRPr sz="1250">
                <a:solidFill>
                  <a:srgbClr val="CBD5E1"/>
                </a:solidFill>
                <a:latin typeface="Segoe UI"/>
              </a:defRPr>
            </a:pPr>
            <a:r>
              <a:t>Inspirado en las calculadoras laborales paso a paso, elimina la complejidad técnica en 4 pasos:</a:t>
            </a:r>
          </a:p>
        </p:txBody>
      </p:sp>
      <p:sp>
        <p:nvSpPr>
          <p:cNvPr id="5" name="Rounded Rectangle 4"/>
          <p:cNvSpPr/>
          <p:nvPr/>
        </p:nvSpPr>
        <p:spPr>
          <a:xfrm>
            <a:off x="457200" y="2395728"/>
            <a:ext cx="6492240" cy="1170432"/>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PANTALLA 1: DATOS Y PLAZO DE 5 DÍAS</a:t>
            </a:r>
          </a:p>
          <a:p>
            <a:pPr>
              <a:defRPr sz="1250">
                <a:solidFill>
                  <a:srgbClr val="F8FAFC"/>
                </a:solidFill>
                <a:latin typeface="Segoe UI"/>
              </a:defRPr>
            </a:pPr>
            <a:r>
              <a:t>Selecciona causal, monto, medio de pago (PSE/Nequi/Tarjeta) y verifica si aplica reversión bancaria o ruta SIC.</a:t>
            </a:r>
          </a:p>
        </p:txBody>
      </p:sp>
      <p:sp>
        <p:nvSpPr>
          <p:cNvPr id="6" name="Rounded Rectangle 5"/>
          <p:cNvSpPr/>
          <p:nvPr/>
        </p:nvSpPr>
        <p:spPr>
          <a:xfrm>
            <a:off x="457200" y="3694176"/>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PANTALLA 2: DETECTOR DE EXCUSAS</a:t>
            </a:r>
          </a:p>
          <a:p>
            <a:pPr>
              <a:defRPr sz="1250">
                <a:solidFill>
                  <a:srgbClr val="F8FAFC"/>
                </a:solidFill>
                <a:latin typeface="Segoe UI"/>
              </a:defRPr>
            </a:pPr>
            <a:r>
              <a:t>Analiza la respuesta de WhatsApp o correo e identifica las cláusulas nulas de pleno derecho (Arts. 43, 47 y 50 Ley 1480).</a:t>
            </a:r>
          </a:p>
        </p:txBody>
      </p:sp>
      <p:sp>
        <p:nvSpPr>
          <p:cNvPr id="7" name="Rounded Rectangle 6"/>
          <p:cNvSpPr/>
          <p:nvPr/>
        </p:nvSpPr>
        <p:spPr>
          <a:xfrm>
            <a:off x="457200" y="4992624"/>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VALIDEZ PROBATORIA (LEY 527 DE 1999)</a:t>
            </a:r>
          </a:p>
          <a:p>
            <a:pPr>
              <a:defRPr sz="1250">
                <a:solidFill>
                  <a:srgbClr val="F8FAFC"/>
                </a:solidFill>
                <a:latin typeface="Segoe UI"/>
              </a:defRPr>
            </a:pPr>
            <a:r>
              <a:t>Calcula la huella criptográfica SHA-256 de los comprobantes y capturas de pantalla para el anexo probatorio.</a:t>
            </a:r>
          </a:p>
        </p:txBody>
      </p:sp>
      <p:pic>
        <p:nvPicPr>
          <p:cNvPr id="8" name="Picture 7" descr="image.png"/>
          <p:cNvPicPr>
            <a:picLocks noChangeAspect="1"/>
          </p:cNvPicPr>
          <p:nvPr/>
        </p:nvPicPr>
        <p:blipFill>
          <a:blip r:embed="rId2"/>
          <a:stretch>
            <a:fillRect/>
          </a:stretch>
        </p:blipFill>
        <p:spPr>
          <a:xfrm>
            <a:off x="7178040" y="987552"/>
            <a:ext cx="4553712" cy="3348318"/>
          </a:xfrm>
          <a:prstGeom prst="rect">
            <a:avLst/>
          </a:prstGeom>
        </p:spPr>
      </p:pic>
      <p:sp>
        <p:nvSpPr>
          <p:cNvPr id="9" name="Rounded Rectangle 8"/>
          <p:cNvSpPr/>
          <p:nvPr/>
        </p:nvSpPr>
        <p:spPr>
          <a:xfrm>
            <a:off x="7178040" y="4480560"/>
            <a:ext cx="4553712" cy="1682496"/>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FUNDAMENTO NORMATIVO EN COLOMBIA</a:t>
            </a:r>
          </a:p>
          <a:p>
            <a:pPr>
              <a:defRPr sz="1150" b="1">
                <a:solidFill>
                  <a:srgbClr val="FFFFFF"/>
                </a:solidFill>
                <a:latin typeface="Segoe UI"/>
              </a:defRPr>
            </a:pPr>
            <a:r>
              <a:t>Arts. 43, 47 y 50 Ley 1480 de 2011 · Ley 527 de 1999</a:t>
            </a:r>
          </a:p>
          <a:p>
            <a:pPr>
              <a:defRPr sz="1100">
                <a:solidFill>
                  <a:srgbClr val="CBD5E1"/>
                </a:solidFill>
                <a:latin typeface="Segoe UI"/>
              </a:defRPr>
            </a:pPr>
            <a:r>
              <a:t>Selecciona causal, monto, medio de pago (PSE/Nequi/Tarjeta) y verifica si aplica reversión bancaria o ruta SIC.</a:t>
            </a:r>
          </a:p>
        </p:txBody>
      </p:sp>
      <p:sp>
        <p:nvSpPr>
          <p:cNvPr id="10" name="TextBox 9"/>
          <p:cNvSpPr txBox="1"/>
          <p:nvPr/>
        </p:nvSpPr>
        <p:spPr>
          <a:xfrm>
            <a:off x="457200" y="6355080"/>
            <a:ext cx="11277295" cy="320040"/>
          </a:xfrm>
          <a:prstGeom prst="rect">
            <a:avLst/>
          </a:prstGeom>
          <a:noFill/>
        </p:spPr>
        <p:txBody>
          <a:bodyPr wrap="none">
            <a:spAutoFit/>
          </a:bodyPr>
          <a:lstStyle/>
          <a:p>
            <a:pPr>
              <a:defRPr sz="1000">
                <a:solidFill>
                  <a:srgbClr val="94A3B8"/>
                </a:solidFill>
                <a:latin typeface="Segoe UI"/>
              </a:defRPr>
            </a:pPr>
            <a:r>
              <a:t>ReversoYa Colombia · Ley 1480 de 2011 · Decreto 587 de 2016 · RAC 3 Aerocivil   |   Diapositiva 5 de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11277295" cy="502920"/>
          </a:xfrm>
          <a:prstGeom prst="roundRect">
            <a:avLst/>
          </a:prstGeom>
          <a:solidFill>
            <a:srgbClr val="131A33"/>
          </a:solidFill>
          <a:ln w="1524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DIAPOSITIVA 6 DE 10   |   4. SOLUCIÓN Y FLUJO DE PANTALLAS (PARTE 2)</a:t>
            </a:r>
          </a:p>
        </p:txBody>
      </p:sp>
      <p:sp>
        <p:nvSpPr>
          <p:cNvPr id="4" name="TextBox 3"/>
          <p:cNvSpPr txBox="1"/>
          <p:nvPr/>
        </p:nvSpPr>
        <p:spPr>
          <a:xfrm>
            <a:off x="457200" y="960120"/>
            <a:ext cx="6492240" cy="1325880"/>
          </a:xfrm>
          <a:prstGeom prst="rect">
            <a:avLst/>
          </a:prstGeom>
          <a:noFill/>
        </p:spPr>
        <p:txBody>
          <a:bodyPr wrap="square">
            <a:spAutoFit/>
          </a:bodyPr>
          <a:lstStyle/>
          <a:p>
            <a:pPr>
              <a:defRPr sz="2300" b="1">
                <a:solidFill>
                  <a:srgbClr val="FFFFFF"/>
                </a:solidFill>
                <a:latin typeface="Segoe UI"/>
              </a:defRPr>
            </a:pPr>
            <a:r>
              <a:t>Flujo Guiado: Pantallas 3 y 4 (3 Oficios y Plazo de 15 Días)</a:t>
            </a:r>
          </a:p>
          <a:p>
            <a:pPr>
              <a:defRPr sz="1250">
                <a:solidFill>
                  <a:srgbClr val="CBD5E1"/>
                </a:solidFill>
                <a:latin typeface="Segoe UI"/>
              </a:defRPr>
            </a:pPr>
            <a:r>
              <a:t>Estructura los requisitos taxativos del Art. 2.2.2.51.3 del Decreto 1074 de 2015 para impedir rechazos de forma:</a:t>
            </a:r>
          </a:p>
        </p:txBody>
      </p:sp>
      <p:sp>
        <p:nvSpPr>
          <p:cNvPr id="5" name="Rounded Rectangle 4"/>
          <p:cNvSpPr/>
          <p:nvPr/>
        </p:nvSpPr>
        <p:spPr>
          <a:xfrm>
            <a:off x="457200" y="2395728"/>
            <a:ext cx="6492240" cy="1170432"/>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OFICIO 1: ORDEN VINCULANTE AL BANCO</a:t>
            </a:r>
          </a:p>
          <a:p>
            <a:pPr>
              <a:defRPr sz="1250">
                <a:solidFill>
                  <a:srgbClr val="F8FAFC"/>
                </a:solidFill>
                <a:latin typeface="Segoe UI"/>
              </a:defRPr>
            </a:pPr>
            <a:r>
              <a:t>Solicitud formal bajo juramento exigiendo la reversión del 100% al instrumento de pago electrónico.</a:t>
            </a:r>
          </a:p>
        </p:txBody>
      </p:sp>
      <p:sp>
        <p:nvSpPr>
          <p:cNvPr id="6" name="Rounded Rectangle 5"/>
          <p:cNvSpPr/>
          <p:nvPr/>
        </p:nvSpPr>
        <p:spPr>
          <a:xfrm>
            <a:off x="457200" y="3694176"/>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OFICIOS 2 Y 3: COMERCIO Y SIC</a:t>
            </a:r>
          </a:p>
          <a:p>
            <a:pPr>
              <a:defRPr sz="1250">
                <a:solidFill>
                  <a:srgbClr val="F8FAFC"/>
                </a:solidFill>
                <a:latin typeface="Segoe UI"/>
              </a:defRPr>
            </a:pPr>
            <a:r>
              <a:t>Reclamación directa al proveedor (requisito Art. 58 num. 5) y formato de Demanda de Protección al Consumidor.</a:t>
            </a:r>
          </a:p>
        </p:txBody>
      </p:sp>
      <p:sp>
        <p:nvSpPr>
          <p:cNvPr id="7" name="Rounded Rectangle 6"/>
          <p:cNvSpPr/>
          <p:nvPr/>
        </p:nvSpPr>
        <p:spPr>
          <a:xfrm>
            <a:off x="457200" y="4992624"/>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PANTALLA 4: PLAZO DE 15 DÍAS HÁBILES</a:t>
            </a:r>
          </a:p>
          <a:p>
            <a:pPr>
              <a:defRPr sz="1250">
                <a:solidFill>
                  <a:srgbClr val="F8FAFC"/>
                </a:solidFill>
                <a:latin typeface="Segoe UI"/>
              </a:defRPr>
            </a:pPr>
            <a:r>
              <a:t>Controla el término perentorio del banco (Art. 2.2.2.51.5) y habilita queja ante Superfinanciera si hay mora al día 16.</a:t>
            </a:r>
          </a:p>
        </p:txBody>
      </p:sp>
      <p:pic>
        <p:nvPicPr>
          <p:cNvPr id="8" name="Picture 7" descr="image.png"/>
          <p:cNvPicPr>
            <a:picLocks noChangeAspect="1"/>
          </p:cNvPicPr>
          <p:nvPr/>
        </p:nvPicPr>
        <p:blipFill>
          <a:blip r:embed="rId2"/>
          <a:stretch>
            <a:fillRect/>
          </a:stretch>
        </p:blipFill>
        <p:spPr>
          <a:xfrm>
            <a:off x="7178040" y="987552"/>
            <a:ext cx="4553712" cy="3348318"/>
          </a:xfrm>
          <a:prstGeom prst="rect">
            <a:avLst/>
          </a:prstGeom>
        </p:spPr>
      </p:pic>
      <p:sp>
        <p:nvSpPr>
          <p:cNvPr id="9" name="Rounded Rectangle 8"/>
          <p:cNvSpPr/>
          <p:nvPr/>
        </p:nvSpPr>
        <p:spPr>
          <a:xfrm>
            <a:off x="7178040" y="4480560"/>
            <a:ext cx="4553712" cy="1682496"/>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FUNDAMENTO NORMATIVO EN COLOMBIA</a:t>
            </a:r>
          </a:p>
          <a:p>
            <a:pPr>
              <a:defRPr sz="1150" b="1">
                <a:solidFill>
                  <a:srgbClr val="FFFFFF"/>
                </a:solidFill>
                <a:latin typeface="Segoe UI"/>
              </a:defRPr>
            </a:pPr>
            <a:r>
              <a:t>Arts. 2.2.2.51.3 y 2.2.2.51.5 Decreto 1074 de 2015</a:t>
            </a:r>
          </a:p>
          <a:p>
            <a:pPr>
              <a:defRPr sz="1100">
                <a:solidFill>
                  <a:srgbClr val="CBD5E1"/>
                </a:solidFill>
                <a:latin typeface="Segoe UI"/>
              </a:defRPr>
            </a:pPr>
            <a:r>
              <a:t>Solicitud formal bajo juramento exigiendo la reversión del 100% al instrumento de pago electrónico.</a:t>
            </a:r>
          </a:p>
        </p:txBody>
      </p:sp>
      <p:sp>
        <p:nvSpPr>
          <p:cNvPr id="10" name="TextBox 9"/>
          <p:cNvSpPr txBox="1"/>
          <p:nvPr/>
        </p:nvSpPr>
        <p:spPr>
          <a:xfrm>
            <a:off x="457200" y="6355080"/>
            <a:ext cx="11277295" cy="320040"/>
          </a:xfrm>
          <a:prstGeom prst="rect">
            <a:avLst/>
          </a:prstGeom>
          <a:noFill/>
        </p:spPr>
        <p:txBody>
          <a:bodyPr wrap="none">
            <a:spAutoFit/>
          </a:bodyPr>
          <a:lstStyle/>
          <a:p>
            <a:pPr>
              <a:defRPr sz="1000">
                <a:solidFill>
                  <a:srgbClr val="94A3B8"/>
                </a:solidFill>
                <a:latin typeface="Segoe UI"/>
              </a:defRPr>
            </a:pPr>
            <a:r>
              <a:t>ReversoYa Colombia · Ley 1480 de 2011 · Decreto 587 de 2016 · RAC 3 Aerocivil   |   Diapositiva 6 de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11277295" cy="502920"/>
          </a:xfrm>
          <a:prstGeom prst="roundRect">
            <a:avLst/>
          </a:prstGeom>
          <a:solidFill>
            <a:srgbClr val="131A33"/>
          </a:solidFill>
          <a:ln w="1524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DIAPOSITIVA 7 DE 10   |   4. ALCANCE SECTORIAL · TRANSPORTE AÉREO RAC 3</a:t>
            </a:r>
          </a:p>
        </p:txBody>
      </p:sp>
      <p:sp>
        <p:nvSpPr>
          <p:cNvPr id="4" name="TextBox 3"/>
          <p:cNvSpPr txBox="1"/>
          <p:nvPr/>
        </p:nvSpPr>
        <p:spPr>
          <a:xfrm>
            <a:off x="457200" y="960120"/>
            <a:ext cx="6492240" cy="1325880"/>
          </a:xfrm>
          <a:prstGeom prst="rect">
            <a:avLst/>
          </a:prstGeom>
          <a:noFill/>
        </p:spPr>
        <p:txBody>
          <a:bodyPr wrap="square">
            <a:spAutoFit/>
          </a:bodyPr>
          <a:lstStyle/>
          <a:p>
            <a:pPr>
              <a:defRPr sz="2300" b="1">
                <a:solidFill>
                  <a:srgbClr val="FFFFFF"/>
                </a:solidFill>
                <a:latin typeface="Segoe UI"/>
              </a:defRPr>
            </a:pPr>
            <a:r>
              <a:t>Módulo Aeronáutico: 100% Tiquete + 30% Compensación RAC 3</a:t>
            </a:r>
          </a:p>
          <a:p>
            <a:pPr>
              <a:defRPr sz="1250">
                <a:solidFill>
                  <a:srgbClr val="CBD5E1"/>
                </a:solidFill>
                <a:latin typeface="Segoe UI"/>
              </a:defRPr>
            </a:pPr>
            <a:r>
              <a:t>Aplicación en sobreventa (overbooking) o cancelación atribuible a la aerolínea en Colombia:</a:t>
            </a:r>
          </a:p>
        </p:txBody>
      </p:sp>
      <p:sp>
        <p:nvSpPr>
          <p:cNvPr id="5" name="Rounded Rectangle 4"/>
          <p:cNvSpPr/>
          <p:nvPr/>
        </p:nvSpPr>
        <p:spPr>
          <a:xfrm>
            <a:off x="457200" y="2395728"/>
            <a:ext cx="6492240" cy="1170432"/>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100% REEMBOLSO DEL TIQUETE</a:t>
            </a:r>
          </a:p>
          <a:p>
            <a:pPr>
              <a:defRPr sz="1250">
                <a:solidFill>
                  <a:srgbClr val="F8FAFC"/>
                </a:solidFill>
                <a:latin typeface="Segoe UI"/>
              </a:defRPr>
            </a:pPr>
            <a:r>
              <a:t>En un tiquete de $540.000 COP, ordena la reversión íntegra de $540.000 COP a través del banco emisor.</a:t>
            </a:r>
          </a:p>
        </p:txBody>
      </p:sp>
      <p:sp>
        <p:nvSpPr>
          <p:cNvPr id="6" name="Rounded Rectangle 5"/>
          <p:cNvSpPr/>
          <p:nvPr/>
        </p:nvSpPr>
        <p:spPr>
          <a:xfrm>
            <a:off x="457200" y="3694176"/>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+30% COMPENSACIÓN MÍNIMA RAC 3</a:t>
            </a:r>
          </a:p>
          <a:p>
            <a:pPr>
              <a:defRPr sz="1250">
                <a:solidFill>
                  <a:srgbClr val="F8FAFC"/>
                </a:solidFill>
                <a:latin typeface="Segoe UI"/>
              </a:defRPr>
            </a:pPr>
            <a:r>
              <a:t>Liquida automáticamente +$162.000 COP adicionales exigibles a la aerolínea según los Reglamentos Aeronáuticos.</a:t>
            </a:r>
          </a:p>
        </p:txBody>
      </p:sp>
      <p:sp>
        <p:nvSpPr>
          <p:cNvPr id="7" name="Rounded Rectangle 6"/>
          <p:cNvSpPr/>
          <p:nvPr/>
        </p:nvSpPr>
        <p:spPr>
          <a:xfrm>
            <a:off x="457200" y="4992624"/>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RESTITUCIÓN EN DINERO EFECTIVO</a:t>
            </a:r>
          </a:p>
          <a:p>
            <a:pPr>
              <a:defRPr sz="1250">
                <a:solidFill>
                  <a:srgbClr val="F8FAFC"/>
                </a:solidFill>
                <a:latin typeface="Segoe UI"/>
              </a:defRPr>
            </a:pPr>
            <a:r>
              <a:t>Total exigible: $702.000 COP en dinero efectivo, sin obligar al pasajero a recibir bonos o millas.</a:t>
            </a:r>
          </a:p>
        </p:txBody>
      </p:sp>
      <p:pic>
        <p:nvPicPr>
          <p:cNvPr id="8" name="Picture 7" descr="image.png"/>
          <p:cNvPicPr>
            <a:picLocks noChangeAspect="1"/>
          </p:cNvPicPr>
          <p:nvPr/>
        </p:nvPicPr>
        <p:blipFill>
          <a:blip r:embed="rId2"/>
          <a:stretch>
            <a:fillRect/>
          </a:stretch>
        </p:blipFill>
        <p:spPr>
          <a:xfrm>
            <a:off x="7178040" y="987552"/>
            <a:ext cx="4553712" cy="3348318"/>
          </a:xfrm>
          <a:prstGeom prst="rect">
            <a:avLst/>
          </a:prstGeom>
        </p:spPr>
      </p:pic>
      <p:sp>
        <p:nvSpPr>
          <p:cNvPr id="9" name="Rounded Rectangle 8"/>
          <p:cNvSpPr/>
          <p:nvPr/>
        </p:nvSpPr>
        <p:spPr>
          <a:xfrm>
            <a:off x="7178040" y="4480560"/>
            <a:ext cx="4553712" cy="1682496"/>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FUNDAMENTO NORMATIVO EN COLOMBIA</a:t>
            </a:r>
          </a:p>
          <a:p>
            <a:pPr>
              <a:defRPr sz="1150" b="1">
                <a:solidFill>
                  <a:srgbClr val="FFFFFF"/>
                </a:solidFill>
                <a:latin typeface="Segoe UI"/>
              </a:defRPr>
            </a:pPr>
            <a:r>
              <a:t>Reglamentos Aeronáuticos de Colombia (RAC 3 Aerocivil)</a:t>
            </a:r>
          </a:p>
          <a:p>
            <a:pPr>
              <a:defRPr sz="1100">
                <a:solidFill>
                  <a:srgbClr val="CBD5E1"/>
                </a:solidFill>
                <a:latin typeface="Segoe UI"/>
              </a:defRPr>
            </a:pPr>
            <a:r>
              <a:t>En un tiquete de $540.000 COP, ordena la reversión íntegra de $540.000 COP a través del banco emisor.</a:t>
            </a:r>
          </a:p>
        </p:txBody>
      </p:sp>
      <p:sp>
        <p:nvSpPr>
          <p:cNvPr id="10" name="TextBox 9"/>
          <p:cNvSpPr txBox="1"/>
          <p:nvPr/>
        </p:nvSpPr>
        <p:spPr>
          <a:xfrm>
            <a:off x="457200" y="6355080"/>
            <a:ext cx="11277295" cy="320040"/>
          </a:xfrm>
          <a:prstGeom prst="rect">
            <a:avLst/>
          </a:prstGeom>
          <a:noFill/>
        </p:spPr>
        <p:txBody>
          <a:bodyPr wrap="none">
            <a:spAutoFit/>
          </a:bodyPr>
          <a:lstStyle/>
          <a:p>
            <a:pPr>
              <a:defRPr sz="1000">
                <a:solidFill>
                  <a:srgbClr val="94A3B8"/>
                </a:solidFill>
                <a:latin typeface="Segoe UI"/>
              </a:defRPr>
            </a:pPr>
            <a:r>
              <a:t>ReversoYa Colombia · Ley 1480 de 2011 · Decreto 587 de 2016 · RAC 3 Aerocivil   |   Diapositiva 7 de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11277295" cy="502920"/>
          </a:xfrm>
          <a:prstGeom prst="roundRect">
            <a:avLst/>
          </a:prstGeom>
          <a:solidFill>
            <a:srgbClr val="131A33"/>
          </a:solidFill>
          <a:ln w="1524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DIAPOSITIVA 8 DE 10   |   5. PROPUESTA DE VALOR Y BENCHMARK EN COLOMBIA</a:t>
            </a:r>
          </a:p>
        </p:txBody>
      </p:sp>
      <p:sp>
        <p:nvSpPr>
          <p:cNvPr id="4" name="TextBox 3"/>
          <p:cNvSpPr txBox="1"/>
          <p:nvPr/>
        </p:nvSpPr>
        <p:spPr>
          <a:xfrm>
            <a:off x="457200" y="960120"/>
            <a:ext cx="6492240" cy="1325880"/>
          </a:xfrm>
          <a:prstGeom prst="rect">
            <a:avLst/>
          </a:prstGeom>
          <a:noFill/>
        </p:spPr>
        <p:txBody>
          <a:bodyPr wrap="square">
            <a:spAutoFit/>
          </a:bodyPr>
          <a:lstStyle/>
          <a:p>
            <a:pPr>
              <a:defRPr sz="2300" b="1">
                <a:solidFill>
                  <a:srgbClr val="FFFFFF"/>
                </a:solidFill>
                <a:latin typeface="Segoe UI"/>
              </a:defRPr>
            </a:pPr>
            <a:r>
              <a:t>¿Qué existe hoy en Colombia y por qué ReversoYa es único?</a:t>
            </a:r>
          </a:p>
          <a:p>
            <a:pPr>
              <a:defRPr sz="1250">
                <a:solidFill>
                  <a:srgbClr val="CBD5E1"/>
                </a:solidFill>
                <a:latin typeface="Segoe UI"/>
              </a:defRPr>
            </a:pPr>
            <a:r>
              <a:t>Comparación frente a las herramientas existentes en el mercado colombiano:</a:t>
            </a:r>
          </a:p>
        </p:txBody>
      </p:sp>
      <p:sp>
        <p:nvSpPr>
          <p:cNvPr id="5" name="Rounded Rectangle 4"/>
          <p:cNvSpPr/>
          <p:nvPr/>
        </p:nvSpPr>
        <p:spPr>
          <a:xfrm>
            <a:off x="457200" y="2395728"/>
            <a:ext cx="6492240" cy="1170432"/>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FRENTE A SIC FACILITA</a:t>
            </a:r>
          </a:p>
          <a:p>
            <a:pPr>
              <a:defRPr sz="1250">
                <a:solidFill>
                  <a:srgbClr val="F8FAFC"/>
                </a:solidFill>
                <a:latin typeface="Segoe UI"/>
              </a:defRPr>
            </a:pPr>
            <a:r>
              <a:t>SIC Facilita solo opera con comercios inscritos voluntariamente; ReversoYa vincula directamente al banco/PSE.</a:t>
            </a:r>
          </a:p>
        </p:txBody>
      </p:sp>
      <p:sp>
        <p:nvSpPr>
          <p:cNvPr id="6" name="Rounded Rectangle 5"/>
          <p:cNvSpPr/>
          <p:nvPr/>
        </p:nvSpPr>
        <p:spPr>
          <a:xfrm>
            <a:off x="457200" y="3694176"/>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FRENTE A FORMULARIOS BANCARIOS</a:t>
            </a:r>
          </a:p>
          <a:p>
            <a:pPr>
              <a:defRPr sz="1250">
                <a:solidFill>
                  <a:srgbClr val="F8FAFC"/>
                </a:solidFill>
                <a:latin typeface="Segoe UI"/>
              </a:defRPr>
            </a:pPr>
            <a:r>
              <a:t>Los bancos suelen tramitar solo fraude de tarjeta y rechazar PSE; ReversoYa invoca el Art. 2.2.2.51.3 Dec. 1074/2015.</a:t>
            </a:r>
          </a:p>
        </p:txBody>
      </p:sp>
      <p:sp>
        <p:nvSpPr>
          <p:cNvPr id="7" name="Rounded Rectangle 6"/>
          <p:cNvSpPr/>
          <p:nvPr/>
        </p:nvSpPr>
        <p:spPr>
          <a:xfrm>
            <a:off x="457200" y="4992624"/>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FRENTE A GENERADORES DE PETICIONES</a:t>
            </a:r>
          </a:p>
          <a:p>
            <a:pPr>
              <a:defRPr sz="1250">
                <a:solidFill>
                  <a:srgbClr val="F8FAFC"/>
                </a:solidFill>
                <a:latin typeface="Segoe UI"/>
              </a:defRPr>
            </a:pPr>
            <a:r>
              <a:t>Escribir solo al vendedor no recupera el dinero si este no contesta; ReversoYa activa el débito bancario en 15 días.</a:t>
            </a:r>
          </a:p>
        </p:txBody>
      </p:sp>
      <p:pic>
        <p:nvPicPr>
          <p:cNvPr id="8" name="Picture 7" descr="image.png"/>
          <p:cNvPicPr>
            <a:picLocks noChangeAspect="1"/>
          </p:cNvPicPr>
          <p:nvPr/>
        </p:nvPicPr>
        <p:blipFill>
          <a:blip r:embed="rId2"/>
          <a:stretch>
            <a:fillRect/>
          </a:stretch>
        </p:blipFill>
        <p:spPr>
          <a:xfrm>
            <a:off x="7178040" y="987552"/>
            <a:ext cx="4553712" cy="3348318"/>
          </a:xfrm>
          <a:prstGeom prst="rect">
            <a:avLst/>
          </a:prstGeom>
        </p:spPr>
      </p:pic>
      <p:sp>
        <p:nvSpPr>
          <p:cNvPr id="9" name="Rounded Rectangle 8"/>
          <p:cNvSpPr/>
          <p:nvPr/>
        </p:nvSpPr>
        <p:spPr>
          <a:xfrm>
            <a:off x="7178040" y="4480560"/>
            <a:ext cx="4553712" cy="1682496"/>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FUNDAMENTO NORMATIVO EN COLOMBIA</a:t>
            </a:r>
          </a:p>
          <a:p>
            <a:pPr>
              <a:defRPr sz="1150" b="1">
                <a:solidFill>
                  <a:srgbClr val="FFFFFF"/>
                </a:solidFill>
                <a:latin typeface="Segoe UI"/>
              </a:defRPr>
            </a:pPr>
            <a:r>
              <a:t>Efectividad Vinculante frente al Emisor Financiero</a:t>
            </a:r>
          </a:p>
          <a:p>
            <a:pPr>
              <a:defRPr sz="1100">
                <a:solidFill>
                  <a:srgbClr val="CBD5E1"/>
                </a:solidFill>
                <a:latin typeface="Segoe UI"/>
              </a:defRPr>
            </a:pPr>
            <a:r>
              <a:t>SIC Facilita solo opera con comercios inscritos voluntariamente; ReversoYa vincula directamente al banco/PSE.</a:t>
            </a:r>
          </a:p>
        </p:txBody>
      </p:sp>
      <p:sp>
        <p:nvSpPr>
          <p:cNvPr id="10" name="TextBox 9"/>
          <p:cNvSpPr txBox="1"/>
          <p:nvPr/>
        </p:nvSpPr>
        <p:spPr>
          <a:xfrm>
            <a:off x="457200" y="6355080"/>
            <a:ext cx="11277295" cy="320040"/>
          </a:xfrm>
          <a:prstGeom prst="rect">
            <a:avLst/>
          </a:prstGeom>
          <a:noFill/>
        </p:spPr>
        <p:txBody>
          <a:bodyPr wrap="none">
            <a:spAutoFit/>
          </a:bodyPr>
          <a:lstStyle/>
          <a:p>
            <a:pPr>
              <a:defRPr sz="1000">
                <a:solidFill>
                  <a:srgbClr val="94A3B8"/>
                </a:solidFill>
                <a:latin typeface="Segoe UI"/>
              </a:defRPr>
            </a:pPr>
            <a:r>
              <a:t>ReversoYa Colombia · Ley 1480 de 2011 · Decreto 587 de 2016 · RAC 3 Aerocivil   |   Diapositiva 8 de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11277295" cy="502920"/>
          </a:xfrm>
          <a:prstGeom prst="roundRect">
            <a:avLst/>
          </a:prstGeom>
          <a:solidFill>
            <a:srgbClr val="131A33"/>
          </a:solidFill>
          <a:ln w="1524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DIAPOSITIVA 9 DE 10   |   6. MODELO DE NEGOCIO</a:t>
            </a:r>
          </a:p>
        </p:txBody>
      </p:sp>
      <p:sp>
        <p:nvSpPr>
          <p:cNvPr id="4" name="TextBox 3"/>
          <p:cNvSpPr txBox="1"/>
          <p:nvPr/>
        </p:nvSpPr>
        <p:spPr>
          <a:xfrm>
            <a:off x="457200" y="960120"/>
            <a:ext cx="6492240" cy="1325880"/>
          </a:xfrm>
          <a:prstGeom prst="rect">
            <a:avLst/>
          </a:prstGeom>
          <a:noFill/>
        </p:spPr>
        <p:txBody>
          <a:bodyPr wrap="square">
            <a:spAutoFit/>
          </a:bodyPr>
          <a:lstStyle/>
          <a:p>
            <a:pPr>
              <a:defRPr sz="2300" b="1">
                <a:solidFill>
                  <a:srgbClr val="FFFFFF"/>
                </a:solidFill>
                <a:latin typeface="Segoe UI"/>
              </a:defRPr>
            </a:pPr>
            <a:r>
              <a:t>Modelo de Negocio: Sostenible y con 0% de comisión</a:t>
            </a:r>
          </a:p>
          <a:p>
            <a:pPr>
              <a:defRPr sz="1250">
                <a:solidFill>
                  <a:srgbClr val="CBD5E1"/>
                </a:solidFill>
                <a:latin typeface="Segoe UI"/>
              </a:defRPr>
            </a:pPr>
            <a:r>
              <a:t>Estructura de tres niveles que garantiza acceso universal y viabilidad financiera:</a:t>
            </a:r>
          </a:p>
        </p:txBody>
      </p:sp>
      <p:sp>
        <p:nvSpPr>
          <p:cNvPr id="5" name="Rounded Rectangle 4"/>
          <p:cNvSpPr/>
          <p:nvPr/>
        </p:nvSpPr>
        <p:spPr>
          <a:xfrm>
            <a:off x="457200" y="2395728"/>
            <a:ext cx="6492240" cy="1170432"/>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1. NIVEL FREEMIUM ($0 COP)</a:t>
            </a:r>
          </a:p>
          <a:p>
            <a:pPr>
              <a:defRPr sz="1250">
                <a:solidFill>
                  <a:srgbClr val="F8FAFC"/>
                </a:solidFill>
                <a:latin typeface="Segoe UI"/>
              </a:defRPr>
            </a:pPr>
            <a:r>
              <a:t>Diagnóstico de plazos, auditoría de excusas y descarga manual de los 3 oficios totalmente gratis.</a:t>
            </a:r>
          </a:p>
        </p:txBody>
      </p:sp>
      <p:sp>
        <p:nvSpPr>
          <p:cNvPr id="6" name="Rounded Rectangle 5"/>
          <p:cNvSpPr/>
          <p:nvPr/>
        </p:nvSpPr>
        <p:spPr>
          <a:xfrm>
            <a:off x="457200" y="3694176"/>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2. RADICACIÓN ASISTIDA ($19.900 COP)</a:t>
            </a:r>
          </a:p>
          <a:p>
            <a:pPr>
              <a:defRPr sz="1250">
                <a:solidFill>
                  <a:srgbClr val="F8FAFC"/>
                </a:solidFill>
                <a:latin typeface="Segoe UI"/>
              </a:defRPr>
            </a:pPr>
            <a:r>
              <a:t>Tarifa plana única por caso (0% comisión sobre el reembolso y 95% más barato que un abogado) con envío simultáneo.</a:t>
            </a:r>
          </a:p>
        </p:txBody>
      </p:sp>
      <p:sp>
        <p:nvSpPr>
          <p:cNvPr id="7" name="Rounded Rectangle 6"/>
          <p:cNvSpPr/>
          <p:nvPr/>
        </p:nvSpPr>
        <p:spPr>
          <a:xfrm>
            <a:off x="457200" y="4992624"/>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3. SUSCRIPCIÓN B2B SAAS ($290k – $1.2M/mes)</a:t>
            </a:r>
          </a:p>
          <a:p>
            <a:pPr>
              <a:defRPr sz="1250">
                <a:solidFill>
                  <a:srgbClr val="F8FAFC"/>
                </a:solidFill>
                <a:latin typeface="Segoe UI"/>
              </a:defRPr>
            </a:pPr>
            <a:r>
              <a:t>API para comercios y pasarelas que resuelven retractos en 1 clic y previenen multas de hasta 2.000 SMLMV.</a:t>
            </a:r>
          </a:p>
        </p:txBody>
      </p:sp>
      <p:pic>
        <p:nvPicPr>
          <p:cNvPr id="8" name="Picture 7" descr="image.png"/>
          <p:cNvPicPr>
            <a:picLocks noChangeAspect="1"/>
          </p:cNvPicPr>
          <p:nvPr/>
        </p:nvPicPr>
        <p:blipFill>
          <a:blip r:embed="rId2"/>
          <a:stretch>
            <a:fillRect/>
          </a:stretch>
        </p:blipFill>
        <p:spPr>
          <a:xfrm>
            <a:off x="7178040" y="987552"/>
            <a:ext cx="4553712" cy="3348318"/>
          </a:xfrm>
          <a:prstGeom prst="rect">
            <a:avLst/>
          </a:prstGeom>
        </p:spPr>
      </p:pic>
      <p:sp>
        <p:nvSpPr>
          <p:cNvPr id="9" name="Rounded Rectangle 8"/>
          <p:cNvSpPr/>
          <p:nvPr/>
        </p:nvSpPr>
        <p:spPr>
          <a:xfrm>
            <a:off x="7178040" y="4480560"/>
            <a:ext cx="4553712" cy="1682496"/>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FUNDAMENTO NORMATIVO EN COLOMBIA</a:t>
            </a:r>
          </a:p>
          <a:p>
            <a:pPr>
              <a:defRPr sz="1150" b="1">
                <a:solidFill>
                  <a:srgbClr val="FFFFFF"/>
                </a:solidFill>
                <a:latin typeface="Segoe UI"/>
              </a:defRPr>
            </a:pPr>
            <a:r>
              <a:t>Sostenibilidad B2C ($0 / $19.900 COP) y Cumplimiento B2B</a:t>
            </a:r>
          </a:p>
          <a:p>
            <a:pPr>
              <a:defRPr sz="1100">
                <a:solidFill>
                  <a:srgbClr val="CBD5E1"/>
                </a:solidFill>
                <a:latin typeface="Segoe UI"/>
              </a:defRPr>
            </a:pPr>
            <a:r>
              <a:t>Diagnóstico de plazos, auditoría de excusas y descarga manual de los 3 oficios totalmente gratis.</a:t>
            </a:r>
          </a:p>
        </p:txBody>
      </p:sp>
      <p:sp>
        <p:nvSpPr>
          <p:cNvPr id="10" name="TextBox 9"/>
          <p:cNvSpPr txBox="1"/>
          <p:nvPr/>
        </p:nvSpPr>
        <p:spPr>
          <a:xfrm>
            <a:off x="457200" y="6355080"/>
            <a:ext cx="11277295" cy="320040"/>
          </a:xfrm>
          <a:prstGeom prst="rect">
            <a:avLst/>
          </a:prstGeom>
          <a:noFill/>
        </p:spPr>
        <p:txBody>
          <a:bodyPr wrap="none">
            <a:spAutoFit/>
          </a:bodyPr>
          <a:lstStyle/>
          <a:p>
            <a:pPr>
              <a:defRPr sz="1000">
                <a:solidFill>
                  <a:srgbClr val="94A3B8"/>
                </a:solidFill>
                <a:latin typeface="Segoe UI"/>
              </a:defRPr>
            </a:pPr>
            <a:r>
              <a:t>ReversoYa Colombia · Ley 1480 de 2011 · Decreto 587 de 2016 · RAC 3 Aerocivil   |   Diapositiva 9 de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11277295" cy="502920"/>
          </a:xfrm>
          <a:prstGeom prst="roundRect">
            <a:avLst/>
          </a:prstGeom>
          <a:solidFill>
            <a:srgbClr val="131A33"/>
          </a:solidFill>
          <a:ln w="1524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DIAPOSITIVA 10 DE 10   |   CONCLUSIÓN E IMPACTO EN ACCESO A LA JUSTICIA</a:t>
            </a:r>
          </a:p>
        </p:txBody>
      </p:sp>
      <p:sp>
        <p:nvSpPr>
          <p:cNvPr id="4" name="TextBox 3"/>
          <p:cNvSpPr txBox="1"/>
          <p:nvPr/>
        </p:nvSpPr>
        <p:spPr>
          <a:xfrm>
            <a:off x="457200" y="960120"/>
            <a:ext cx="6492240" cy="1325880"/>
          </a:xfrm>
          <a:prstGeom prst="rect">
            <a:avLst/>
          </a:prstGeom>
          <a:noFill/>
        </p:spPr>
        <p:txBody>
          <a:bodyPr wrap="square">
            <a:spAutoFit/>
          </a:bodyPr>
          <a:lstStyle/>
          <a:p>
            <a:pPr>
              <a:defRPr sz="2300" b="1">
                <a:solidFill>
                  <a:srgbClr val="FFFFFF"/>
                </a:solidFill>
                <a:latin typeface="Segoe UI"/>
              </a:defRPr>
            </a:pPr>
            <a:r>
              <a:t>Cuando la ley es ejecutable para el ciudadano, el abuso desaparece</a:t>
            </a:r>
          </a:p>
          <a:p>
            <a:pPr>
              <a:defRPr sz="1250">
                <a:solidFill>
                  <a:srgbClr val="CBD5E1"/>
                </a:solidFill>
                <a:latin typeface="Segoe UI"/>
              </a:defRPr>
            </a:pPr>
            <a:r>
              <a:t>Síntesis del impacto jurídico, social y tecnológico de ReversoYa en Colombia:</a:t>
            </a:r>
          </a:p>
        </p:txBody>
      </p:sp>
      <p:sp>
        <p:nvSpPr>
          <p:cNvPr id="5" name="Rounded Rectangle 4"/>
          <p:cNvSpPr/>
          <p:nvPr/>
        </p:nvSpPr>
        <p:spPr>
          <a:xfrm>
            <a:off x="457200" y="2395728"/>
            <a:ext cx="6492240" cy="1170432"/>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EFICACIA MATERIAL (ART. 78 Y 229 C.P.)</a:t>
            </a:r>
          </a:p>
          <a:p>
            <a:pPr>
              <a:defRPr sz="1250">
                <a:solidFill>
                  <a:srgbClr val="F8FAFC"/>
                </a:solidFill>
                <a:latin typeface="Segoe UI"/>
              </a:defRPr>
            </a:pPr>
            <a:r>
              <a:t>Convierte el Estatuto del Consumidor y el Decreto 587 de 2016 en una defensa ciudadana inmediata.</a:t>
            </a:r>
          </a:p>
        </p:txBody>
      </p:sp>
      <p:sp>
        <p:nvSpPr>
          <p:cNvPr id="6" name="Rounded Rectangle 5"/>
          <p:cNvSpPr/>
          <p:nvPr/>
        </p:nvSpPr>
        <p:spPr>
          <a:xfrm>
            <a:off x="457200" y="3694176"/>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RIGOR TÉCNICO Y PROBATORIO</a:t>
            </a:r>
          </a:p>
          <a:p>
            <a:pPr>
              <a:defRPr sz="1250">
                <a:solidFill>
                  <a:srgbClr val="F8FAFC"/>
                </a:solidFill>
                <a:latin typeface="Segoe UI"/>
              </a:defRPr>
            </a:pPr>
            <a:r>
              <a:t>Cumple estrictamente el Art. 2.2.2.51.3 del Decreto 1074 de 2015 y la Ley 527 de 1999.</a:t>
            </a:r>
          </a:p>
        </p:txBody>
      </p:sp>
      <p:sp>
        <p:nvSpPr>
          <p:cNvPr id="7" name="Rounded Rectangle 6"/>
          <p:cNvSpPr/>
          <p:nvPr/>
        </p:nvSpPr>
        <p:spPr>
          <a:xfrm>
            <a:off x="457200" y="4992624"/>
            <a:ext cx="6492240" cy="1170432"/>
          </a:xfrm>
          <a:prstGeom prst="roundRect">
            <a:avLst/>
          </a:prstGeom>
          <a:solidFill>
            <a:srgbClr val="131A33"/>
          </a:solidFill>
          <a:ln w="19050">
            <a:solidFill>
              <a:srgbClr val="304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3FCC0"/>
                </a:solidFill>
                <a:latin typeface="Segoe UI"/>
              </a:defRPr>
            </a:pPr>
            <a:r>
              <a:t>ESCALABILIDAD NACIONAL</a:t>
            </a:r>
          </a:p>
          <a:p>
            <a:pPr>
              <a:defRPr sz="1250">
                <a:solidFill>
                  <a:srgbClr val="F8FAFC"/>
                </a:solidFill>
                <a:latin typeface="Segoe UI"/>
              </a:defRPr>
            </a:pPr>
            <a:r>
              <a:t>Protege desde compras de $80.000 COP en redes sociales hasta tiquetes aéreos bajo el RAC 3.</a:t>
            </a:r>
          </a:p>
        </p:txBody>
      </p:sp>
      <p:pic>
        <p:nvPicPr>
          <p:cNvPr id="8" name="Picture 7" descr="image.png"/>
          <p:cNvPicPr>
            <a:picLocks noChangeAspect="1"/>
          </p:cNvPicPr>
          <p:nvPr/>
        </p:nvPicPr>
        <p:blipFill>
          <a:blip r:embed="rId2"/>
          <a:stretch>
            <a:fillRect/>
          </a:stretch>
        </p:blipFill>
        <p:spPr>
          <a:xfrm>
            <a:off x="7178040" y="987552"/>
            <a:ext cx="4553712" cy="3348318"/>
          </a:xfrm>
          <a:prstGeom prst="rect">
            <a:avLst/>
          </a:prstGeom>
        </p:spPr>
      </p:pic>
      <p:sp>
        <p:nvSpPr>
          <p:cNvPr id="9" name="Rounded Rectangle 8"/>
          <p:cNvSpPr/>
          <p:nvPr/>
        </p:nvSpPr>
        <p:spPr>
          <a:xfrm>
            <a:off x="7178040" y="4480560"/>
            <a:ext cx="4553712" cy="1682496"/>
          </a:xfrm>
          <a:prstGeom prst="roundRect">
            <a:avLst/>
          </a:prstGeom>
          <a:solidFill>
            <a:srgbClr val="131A33"/>
          </a:solidFill>
          <a:ln w="19050">
            <a:solidFill>
              <a:srgbClr val="00C4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63FCC0"/>
                </a:solidFill>
                <a:latin typeface="Segoe UI"/>
              </a:defRPr>
            </a:pPr>
            <a:r>
              <a:t>FUNDAMENTO NORMATIVO EN COLOMBIA</a:t>
            </a:r>
          </a:p>
          <a:p>
            <a:pPr>
              <a:defRPr sz="1150" b="1">
                <a:solidFill>
                  <a:srgbClr val="FFFFFF"/>
                </a:solidFill>
                <a:latin typeface="Segoe UI"/>
              </a:defRPr>
            </a:pPr>
            <a:r>
              <a:t>Protección Constitucional del Consumidor en Colombia</a:t>
            </a:r>
          </a:p>
          <a:p>
            <a:pPr>
              <a:defRPr sz="1100">
                <a:solidFill>
                  <a:srgbClr val="CBD5E1"/>
                </a:solidFill>
                <a:latin typeface="Segoe UI"/>
              </a:defRPr>
            </a:pPr>
            <a:r>
              <a:t>Convierte el Estatuto del Consumidor y el Decreto 587 de 2016 en una defensa ciudadana inmediata.</a:t>
            </a:r>
          </a:p>
        </p:txBody>
      </p:sp>
      <p:sp>
        <p:nvSpPr>
          <p:cNvPr id="10" name="TextBox 9"/>
          <p:cNvSpPr txBox="1"/>
          <p:nvPr/>
        </p:nvSpPr>
        <p:spPr>
          <a:xfrm>
            <a:off x="457200" y="6355080"/>
            <a:ext cx="11277295" cy="320040"/>
          </a:xfrm>
          <a:prstGeom prst="rect">
            <a:avLst/>
          </a:prstGeom>
          <a:noFill/>
        </p:spPr>
        <p:txBody>
          <a:bodyPr wrap="none">
            <a:spAutoFit/>
          </a:bodyPr>
          <a:lstStyle/>
          <a:p>
            <a:pPr>
              <a:defRPr sz="1000">
                <a:solidFill>
                  <a:srgbClr val="94A3B8"/>
                </a:solidFill>
                <a:latin typeface="Segoe UI"/>
              </a:defRPr>
            </a:pPr>
            <a:r>
              <a:t>ReversoYa Colombia · Ley 1480 de 2011 · Decreto 587 de 2016 · RAC 3 Aerocivil   |   Diapositiva 10 de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